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nstrument Sans Semi Bold"/>
      <p:regular r:id="rId15"/>
    </p:embeddedFont>
    <p:embeddedFont>
      <p:font typeface="Instrument Sans Semi Bold"/>
      <p:regular r:id="rId16"/>
    </p:embeddedFont>
    <p:embeddedFont>
      <p:font typeface="Instrument Sans Semi Bold"/>
      <p:regular r:id="rId17"/>
    </p:embeddedFont>
    <p:embeddedFont>
      <p:font typeface="Instrument Sans Semi Bold"/>
      <p:regular r:id="rId18"/>
    </p:embeddedFont>
    <p:embeddedFont>
      <p:font typeface="Instrument Sans Medium"/>
      <p:regular r:id="rId19"/>
    </p:embeddedFont>
    <p:embeddedFont>
      <p:font typeface="Instrument Sans Medium"/>
      <p:regular r:id="rId20"/>
    </p:embeddedFont>
    <p:embeddedFont>
      <p:font typeface="Instrument Sans Medium"/>
      <p:regular r:id="rId21"/>
    </p:embeddedFont>
    <p:embeddedFont>
      <p:font typeface="Instrument Sans Medium"/>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78047" y="624721"/>
            <a:ext cx="7560707" cy="1413748"/>
          </a:xfrm>
          <a:prstGeom prst="rect">
            <a:avLst/>
          </a:prstGeom>
          <a:noFill/>
          <a:ln/>
        </p:spPr>
        <p:txBody>
          <a:bodyPr wrap="squar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Hiring shouldn't feel like drowning in PDFs</a:t>
            </a:r>
            <a:endParaRPr lang="en-US" sz="4450" dirty="0"/>
          </a:p>
        </p:txBody>
      </p:sp>
      <p:sp>
        <p:nvSpPr>
          <p:cNvPr id="4" name="Text 1"/>
          <p:cNvSpPr/>
          <p:nvPr/>
        </p:nvSpPr>
        <p:spPr>
          <a:xfrm>
            <a:off x="6278047" y="2376726"/>
            <a:ext cx="7560707" cy="1806773"/>
          </a:xfrm>
          <a:prstGeom prst="rect">
            <a:avLst/>
          </a:prstGeom>
          <a:noFill/>
          <a:ln/>
        </p:spPr>
        <p:txBody>
          <a:bodyPr wrap="square" lIns="0" tIns="0" rIns="0" bIns="0" rtlCol="0" anchor="t"/>
          <a:lstStyle/>
          <a:p>
            <a:pPr algn="l" indent="0" marL="0">
              <a:lnSpc>
                <a:spcPts val="280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Small and mid-sized companies face an impossible challenge: hundreds of resumes pour in for every open role, but there's no time or tools to review them properly. The result? Hiring drags on for months, critical positions stay unfilled, and exceptional candidates slip through the cracks while you're still buried in spreadsheets.</a:t>
            </a:r>
            <a:endParaRPr lang="en-US" sz="1750" dirty="0"/>
          </a:p>
        </p:txBody>
      </p:sp>
      <p:sp>
        <p:nvSpPr>
          <p:cNvPr id="5" name="Shape 2"/>
          <p:cNvSpPr/>
          <p:nvPr/>
        </p:nvSpPr>
        <p:spPr>
          <a:xfrm>
            <a:off x="6115169" y="4437221"/>
            <a:ext cx="2451021" cy="3167539"/>
          </a:xfrm>
          <a:prstGeom prst="roundRect">
            <a:avLst>
              <a:gd name="adj" fmla="val 13289"/>
            </a:avLst>
          </a:prstGeom>
          <a:solidFill>
            <a:srgbClr val="84C1FA"/>
          </a:solidFill>
          <a:ln/>
        </p:spPr>
      </p:sp>
      <p:sp>
        <p:nvSpPr>
          <p:cNvPr id="6" name="Text 3"/>
          <p:cNvSpPr/>
          <p:nvPr/>
        </p:nvSpPr>
        <p:spPr>
          <a:xfrm>
            <a:off x="6341269" y="4662726"/>
            <a:ext cx="1998821" cy="706755"/>
          </a:xfrm>
          <a:prstGeom prst="rect">
            <a:avLst/>
          </a:prstGeom>
          <a:noFill/>
          <a:ln/>
        </p:spPr>
        <p:txBody>
          <a:bodyPr wrap="squar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The Volume Problem</a:t>
            </a:r>
            <a:endParaRPr lang="en-US" sz="2200" dirty="0"/>
          </a:p>
        </p:txBody>
      </p:sp>
      <p:sp>
        <p:nvSpPr>
          <p:cNvPr id="7" name="Text 4"/>
          <p:cNvSpPr/>
          <p:nvPr/>
        </p:nvSpPr>
        <p:spPr>
          <a:xfrm>
            <a:off x="6341269" y="5594985"/>
            <a:ext cx="1998821" cy="1806773"/>
          </a:xfrm>
          <a:prstGeom prst="rect">
            <a:avLst/>
          </a:prstGeom>
          <a:noFill/>
          <a:ln/>
        </p:spPr>
        <p:txBody>
          <a:bodyPr wrap="square" lIns="0" tIns="0" rIns="0" bIns="0" rtlCol="0" anchor="t"/>
          <a:lstStyle/>
          <a:p>
            <a:pPr algn="l" indent="0" marL="0">
              <a:lnSpc>
                <a:spcPts val="280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200+ resumes per role on average, each requiring 5-10 minutes of careful review</a:t>
            </a:r>
            <a:endParaRPr lang="en-US" sz="1750" dirty="0"/>
          </a:p>
        </p:txBody>
      </p:sp>
      <p:sp>
        <p:nvSpPr>
          <p:cNvPr id="8" name="Text 5"/>
          <p:cNvSpPr/>
          <p:nvPr/>
        </p:nvSpPr>
        <p:spPr>
          <a:xfrm>
            <a:off x="8962668" y="4662726"/>
            <a:ext cx="2125266" cy="706755"/>
          </a:xfrm>
          <a:prstGeom prst="rect">
            <a:avLst/>
          </a:prstGeom>
          <a:noFill/>
          <a:ln/>
        </p:spPr>
        <p:txBody>
          <a:bodyPr wrap="squar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The Time Crunch</a:t>
            </a:r>
            <a:endParaRPr lang="en-US" sz="2200" dirty="0"/>
          </a:p>
        </p:txBody>
      </p:sp>
      <p:sp>
        <p:nvSpPr>
          <p:cNvPr id="9" name="Text 6"/>
          <p:cNvSpPr/>
          <p:nvPr/>
        </p:nvSpPr>
        <p:spPr>
          <a:xfrm>
            <a:off x="8962668" y="5594985"/>
            <a:ext cx="2125266" cy="1806773"/>
          </a:xfrm>
          <a:prstGeom prst="rect">
            <a:avLst/>
          </a:prstGeom>
          <a:noFill/>
          <a:ln/>
        </p:spPr>
        <p:txBody>
          <a:bodyPr wrap="square" lIns="0" tIns="0" rIns="0" bIns="0" rtlCol="0" anchor="t"/>
          <a:lstStyle/>
          <a:p>
            <a:pPr algn="l" indent="0" marL="0">
              <a:lnSpc>
                <a:spcPts val="280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Small teams juggle hiring alongside their day jobs, leading to rushed decisions</a:t>
            </a:r>
            <a:endParaRPr lang="en-US" sz="1750" dirty="0"/>
          </a:p>
        </p:txBody>
      </p:sp>
      <p:sp>
        <p:nvSpPr>
          <p:cNvPr id="10" name="Text 7"/>
          <p:cNvSpPr/>
          <p:nvPr/>
        </p:nvSpPr>
        <p:spPr>
          <a:xfrm>
            <a:off x="11647289" y="4662726"/>
            <a:ext cx="2206466" cy="353378"/>
          </a:xfrm>
          <a:prstGeom prst="rect">
            <a:avLst/>
          </a:prstGeom>
          <a:noFill/>
          <a:ln/>
        </p:spPr>
        <p:txBody>
          <a:bodyPr wrap="non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The Talent Loss</a:t>
            </a:r>
            <a:endParaRPr lang="en-US" sz="2200" dirty="0"/>
          </a:p>
        </p:txBody>
      </p:sp>
      <p:sp>
        <p:nvSpPr>
          <p:cNvPr id="11" name="Text 8"/>
          <p:cNvSpPr/>
          <p:nvPr/>
        </p:nvSpPr>
        <p:spPr>
          <a:xfrm>
            <a:off x="11647289" y="5241607"/>
            <a:ext cx="2206466" cy="1445419"/>
          </a:xfrm>
          <a:prstGeom prst="rect">
            <a:avLst/>
          </a:prstGeom>
          <a:noFill/>
          <a:ln/>
        </p:spPr>
        <p:txBody>
          <a:bodyPr wrap="square" lIns="0" tIns="0" rIns="0" bIns="0" rtlCol="0" anchor="t"/>
          <a:lstStyle/>
          <a:p>
            <a:pPr algn="l" indent="0" marL="0">
              <a:lnSpc>
                <a:spcPts val="280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Top candidates accept other offers while you're still screening batch one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677347"/>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A massive, underserved hiring problem</a:t>
            </a:r>
            <a:endParaRPr lang="en-US" sz="4450" dirty="0"/>
          </a:p>
        </p:txBody>
      </p:sp>
      <p:sp>
        <p:nvSpPr>
          <p:cNvPr id="4" name="Shape 1"/>
          <p:cNvSpPr/>
          <p:nvPr/>
        </p:nvSpPr>
        <p:spPr>
          <a:xfrm>
            <a:off x="6116836" y="2435066"/>
            <a:ext cx="3828217" cy="5117068"/>
          </a:xfrm>
          <a:prstGeom prst="roundRect">
            <a:avLst>
              <a:gd name="adj" fmla="val 8532"/>
            </a:avLst>
          </a:prstGeom>
          <a:solidFill>
            <a:srgbClr val="84C1FA"/>
          </a:solidFill>
          <a:ln/>
        </p:spPr>
      </p:sp>
      <p:sp>
        <p:nvSpPr>
          <p:cNvPr id="5" name="Text 2"/>
          <p:cNvSpPr/>
          <p:nvPr/>
        </p:nvSpPr>
        <p:spPr>
          <a:xfrm>
            <a:off x="6343650" y="26618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The Market</a:t>
            </a:r>
            <a:endParaRPr lang="en-US" sz="2200" dirty="0"/>
          </a:p>
        </p:txBody>
      </p:sp>
      <p:sp>
        <p:nvSpPr>
          <p:cNvPr id="6" name="Text 3"/>
          <p:cNvSpPr/>
          <p:nvPr/>
        </p:nvSpPr>
        <p:spPr>
          <a:xfrm>
            <a:off x="6343650" y="3243024"/>
            <a:ext cx="3374588" cy="399217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Millions of SMBs hire every year without dedicated recruiting teams</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Existing ATS tools are built for enterprises, not founders or lean teams</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Manual screening increases time-to-hire and decision fatigue</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Even small delays cause top candidates to drop out</a:t>
            </a:r>
            <a:endParaRPr lang="en-US" sz="1750" dirty="0"/>
          </a:p>
        </p:txBody>
      </p:sp>
      <p:sp>
        <p:nvSpPr>
          <p:cNvPr id="7" name="Text 4"/>
          <p:cNvSpPr/>
          <p:nvPr/>
        </p:nvSpPr>
        <p:spPr>
          <a:xfrm>
            <a:off x="10342721" y="26618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Why Now</a:t>
            </a:r>
            <a:endParaRPr lang="en-US" sz="2200" dirty="0"/>
          </a:p>
        </p:txBody>
      </p:sp>
      <p:sp>
        <p:nvSpPr>
          <p:cNvPr id="8" name="Text 5"/>
          <p:cNvSpPr/>
          <p:nvPr/>
        </p:nvSpPr>
        <p:spPr>
          <a:xfrm>
            <a:off x="10342721" y="3243024"/>
            <a:ext cx="3501509" cy="145169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LLMs can finally reason over unstructured resumes</a:t>
            </a:r>
            <a:endParaRPr lang="en-US" sz="1750" dirty="0"/>
          </a:p>
          <a:p>
            <a:pPr algn="l" marL="342900" indent="-342900">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Agentic AI enables decisions and actions, not just insights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39133" y="922377"/>
            <a:ext cx="11352014" cy="1028224"/>
          </a:xfrm>
          <a:prstGeom prst="rect">
            <a:avLst/>
          </a:prstGeom>
          <a:noFill/>
          <a:ln/>
        </p:spPr>
        <p:txBody>
          <a:bodyPr wrap="square" lIns="0" tIns="0" rIns="0" bIns="0" rtlCol="0" anchor="t"/>
          <a:lstStyle/>
          <a:p>
            <a:pPr algn="l" indent="0" marL="0">
              <a:lnSpc>
                <a:spcPts val="4000"/>
              </a:lnSpc>
              <a:buNone/>
            </a:pPr>
            <a:r>
              <a:rPr lang="en-US" sz="3200" dirty="0">
                <a:solidFill>
                  <a:srgbClr val="091C53"/>
                </a:solidFill>
                <a:latin typeface="Instrument Sans Semi Bold" pitchFamily="34" charset="0"/>
                <a:ea typeface="Instrument Sans Semi Bold" pitchFamily="34" charset="-122"/>
                <a:cs typeface="Instrument Sans Semi Bold" pitchFamily="34" charset="-120"/>
              </a:rPr>
              <a:t>The Real Problem: Decision-Making Under Cognitive Overload</a:t>
            </a:r>
            <a:endParaRPr lang="en-US" sz="3200" dirty="0"/>
          </a:p>
        </p:txBody>
      </p:sp>
      <p:pic>
        <p:nvPicPr>
          <p:cNvPr id="3" name="Image 0" descr="preencoded.png">    </p:cNvPr>
          <p:cNvPicPr>
            <a:picLocks noChangeAspect="1"/>
          </p:cNvPicPr>
          <p:nvPr/>
        </p:nvPicPr>
        <p:blipFill>
          <a:blip r:embed="rId1"/>
          <a:stretch>
            <a:fillRect/>
          </a:stretch>
        </p:blipFill>
        <p:spPr>
          <a:xfrm>
            <a:off x="1921312" y="2263735"/>
            <a:ext cx="1502450" cy="2003227"/>
          </a:xfrm>
          <a:prstGeom prst="rect">
            <a:avLst/>
          </a:prstGeom>
        </p:spPr>
      </p:pic>
      <p:sp>
        <p:nvSpPr>
          <p:cNvPr id="4" name="Text 1"/>
          <p:cNvSpPr/>
          <p:nvPr/>
        </p:nvSpPr>
        <p:spPr>
          <a:xfrm>
            <a:off x="4114919" y="2856071"/>
            <a:ext cx="3254216" cy="256937"/>
          </a:xfrm>
          <a:prstGeom prst="rect">
            <a:avLst/>
          </a:prstGeom>
          <a:noFill/>
          <a:ln/>
        </p:spPr>
        <p:txBody>
          <a:bodyPr wrap="none" lIns="0" tIns="0" rIns="0" bIns="0" rtlCol="0" anchor="t"/>
          <a:lstStyle/>
          <a:p>
            <a:pPr algn="l" indent="0" marL="0">
              <a:lnSpc>
                <a:spcPts val="2000"/>
              </a:lnSpc>
              <a:buNone/>
            </a:pPr>
            <a:r>
              <a:rPr lang="en-US" sz="1600" dirty="0">
                <a:solidFill>
                  <a:srgbClr val="091C53"/>
                </a:solidFill>
                <a:latin typeface="Instrument Sans Semi Bold" pitchFamily="34" charset="0"/>
                <a:ea typeface="Instrument Sans Semi Bold" pitchFamily="34" charset="-122"/>
                <a:cs typeface="Instrument Sans Semi Bold" pitchFamily="34" charset="-120"/>
              </a:rPr>
              <a:t>Sarah – Founder / Talent Manager</a:t>
            </a:r>
            <a:endParaRPr lang="en-US" sz="1600" dirty="0"/>
          </a:p>
        </p:txBody>
      </p:sp>
      <p:sp>
        <p:nvSpPr>
          <p:cNvPr id="5" name="Text 2"/>
          <p:cNvSpPr/>
          <p:nvPr/>
        </p:nvSpPr>
        <p:spPr>
          <a:xfrm>
            <a:off x="4114919" y="3232309"/>
            <a:ext cx="8883729" cy="454104"/>
          </a:xfrm>
          <a:prstGeom prst="rect">
            <a:avLst/>
          </a:prstGeom>
          <a:noFill/>
          <a:ln/>
        </p:spPr>
        <p:txBody>
          <a:bodyPr wrap="square" lIns="0" tIns="0" rIns="0" bIns="0" rtlCol="0" anchor="t"/>
          <a:lstStyle/>
          <a:p>
            <a:pPr algn="l" indent="0" marL="0">
              <a:lnSpc>
                <a:spcPts val="175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Sarah is the Founder and Talent Manager at a 50-person tech company. She wears many hats, and recruiting is just one of them. She needs to hire top talent efficiently to keep her company growing, but the process is overwhelming.</a:t>
            </a:r>
            <a:endParaRPr lang="en-US" sz="12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00808" y="4540389"/>
            <a:ext cx="246698" cy="246698"/>
          </a:xfrm>
          <a:prstGeom prst="rect">
            <a:avLst/>
          </a:prstGeom>
        </p:spPr>
      </p:pic>
      <p:sp>
        <p:nvSpPr>
          <p:cNvPr id="7" name="Text 3"/>
          <p:cNvSpPr/>
          <p:nvPr/>
        </p:nvSpPr>
        <p:spPr>
          <a:xfrm>
            <a:off x="2173724" y="4535329"/>
            <a:ext cx="2557105" cy="256937"/>
          </a:xfrm>
          <a:prstGeom prst="rect">
            <a:avLst/>
          </a:prstGeom>
          <a:noFill/>
          <a:ln/>
        </p:spPr>
        <p:txBody>
          <a:bodyPr wrap="none" lIns="0" tIns="0" rIns="0" bIns="0" rtlCol="0" anchor="t"/>
          <a:lstStyle/>
          <a:p>
            <a:pPr algn="l" indent="0" marL="0">
              <a:lnSpc>
                <a:spcPts val="20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200–500 resumes per role</a:t>
            </a:r>
            <a:endParaRPr lang="en-US" sz="1600" dirty="0"/>
          </a:p>
        </p:txBody>
      </p:sp>
      <p:sp>
        <p:nvSpPr>
          <p:cNvPr id="8" name="Text 4"/>
          <p:cNvSpPr/>
          <p:nvPr/>
        </p:nvSpPr>
        <p:spPr>
          <a:xfrm>
            <a:off x="2173724" y="4863822"/>
            <a:ext cx="5066824" cy="454104"/>
          </a:xfrm>
          <a:prstGeom prst="rect">
            <a:avLst/>
          </a:prstGeom>
          <a:noFill/>
          <a:ln/>
        </p:spPr>
        <p:txBody>
          <a:bodyPr wrap="square" lIns="0" tIns="0" rIns="0" bIns="0" rtlCol="0" anchor="t"/>
          <a:lstStyle/>
          <a:p>
            <a:pPr algn="l" indent="0" marL="0">
              <a:lnSpc>
                <a:spcPts val="175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The sheer volume of applications makes initial screening a daunting task.</a:t>
            </a:r>
            <a:endParaRPr lang="en-US" sz="12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51288" y="4540389"/>
            <a:ext cx="246698" cy="246698"/>
          </a:xfrm>
          <a:prstGeom prst="rect">
            <a:avLst/>
          </a:prstGeom>
        </p:spPr>
      </p:pic>
      <p:sp>
        <p:nvSpPr>
          <p:cNvPr id="10" name="Text 5"/>
          <p:cNvSpPr/>
          <p:nvPr/>
        </p:nvSpPr>
        <p:spPr>
          <a:xfrm>
            <a:off x="7924205" y="4535329"/>
            <a:ext cx="4258270" cy="256937"/>
          </a:xfrm>
          <a:prstGeom prst="rect">
            <a:avLst/>
          </a:prstGeom>
          <a:noFill/>
          <a:ln/>
        </p:spPr>
        <p:txBody>
          <a:bodyPr wrap="none" lIns="0" tIns="0" rIns="0" bIns="0" rtlCol="0" anchor="t"/>
          <a:lstStyle/>
          <a:p>
            <a:pPr algn="l" indent="0" marL="0">
              <a:lnSpc>
                <a:spcPts val="20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Inconsistent, mentally exhausting screening</a:t>
            </a:r>
            <a:endParaRPr lang="en-US" sz="1600" dirty="0"/>
          </a:p>
        </p:txBody>
      </p:sp>
      <p:sp>
        <p:nvSpPr>
          <p:cNvPr id="11" name="Text 6"/>
          <p:cNvSpPr/>
          <p:nvPr/>
        </p:nvSpPr>
        <p:spPr>
          <a:xfrm>
            <a:off x="7924205" y="4863822"/>
            <a:ext cx="5066943" cy="227052"/>
          </a:xfrm>
          <a:prstGeom prst="rect">
            <a:avLst/>
          </a:prstGeom>
          <a:noFill/>
          <a:ln/>
        </p:spPr>
        <p:txBody>
          <a:bodyPr wrap="none" lIns="0" tIns="0" rIns="0" bIns="0" rtlCol="0" anchor="t"/>
          <a:lstStyle/>
          <a:p>
            <a:pPr algn="l" indent="0" marL="0">
              <a:lnSpc>
                <a:spcPts val="175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Manually reviewing each resume leads to burnout and biases.</a:t>
            </a:r>
            <a:endParaRPr lang="en-US" sz="125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00808" y="5561588"/>
            <a:ext cx="246698" cy="246698"/>
          </a:xfrm>
          <a:prstGeom prst="rect">
            <a:avLst/>
          </a:prstGeom>
        </p:spPr>
      </p:pic>
      <p:sp>
        <p:nvSpPr>
          <p:cNvPr id="13" name="Text 7"/>
          <p:cNvSpPr/>
          <p:nvPr/>
        </p:nvSpPr>
        <p:spPr>
          <a:xfrm>
            <a:off x="2173724" y="5556528"/>
            <a:ext cx="3794403" cy="256937"/>
          </a:xfrm>
          <a:prstGeom prst="rect">
            <a:avLst/>
          </a:prstGeom>
          <a:noFill/>
          <a:ln/>
        </p:spPr>
        <p:txBody>
          <a:bodyPr wrap="none" lIns="0" tIns="0" rIns="0" bIns="0" rtlCol="0" anchor="t"/>
          <a:lstStyle/>
          <a:p>
            <a:pPr algn="l" indent="0" marL="0">
              <a:lnSpc>
                <a:spcPts val="20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Fear of missing high-quality candidates</a:t>
            </a:r>
            <a:endParaRPr lang="en-US" sz="1600" dirty="0"/>
          </a:p>
        </p:txBody>
      </p:sp>
      <p:sp>
        <p:nvSpPr>
          <p:cNvPr id="14" name="Text 8"/>
          <p:cNvSpPr/>
          <p:nvPr/>
        </p:nvSpPr>
        <p:spPr>
          <a:xfrm>
            <a:off x="2173724" y="5885021"/>
            <a:ext cx="5066824" cy="227052"/>
          </a:xfrm>
          <a:prstGeom prst="rect">
            <a:avLst/>
          </a:prstGeom>
          <a:noFill/>
          <a:ln/>
        </p:spPr>
        <p:txBody>
          <a:bodyPr wrap="none" lIns="0" tIns="0" rIns="0" bIns="0" rtlCol="0" anchor="t"/>
          <a:lstStyle/>
          <a:p>
            <a:pPr algn="l" indent="0" marL="0">
              <a:lnSpc>
                <a:spcPts val="175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She worries that excellent fits are being overlooked in the pile.</a:t>
            </a:r>
            <a:endParaRPr lang="en-US" sz="1250" dirty="0"/>
          </a:p>
        </p:txBody>
      </p:sp>
      <p:pic>
        <p:nvPicPr>
          <p:cNvPr id="1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51288" y="5561588"/>
            <a:ext cx="246698" cy="246698"/>
          </a:xfrm>
          <a:prstGeom prst="rect">
            <a:avLst/>
          </a:prstGeom>
        </p:spPr>
      </p:pic>
      <p:sp>
        <p:nvSpPr>
          <p:cNvPr id="16" name="Text 9"/>
          <p:cNvSpPr/>
          <p:nvPr/>
        </p:nvSpPr>
        <p:spPr>
          <a:xfrm>
            <a:off x="7924205" y="5556528"/>
            <a:ext cx="5066943" cy="513874"/>
          </a:xfrm>
          <a:prstGeom prst="rect">
            <a:avLst/>
          </a:prstGeom>
          <a:noFill/>
          <a:ln/>
        </p:spPr>
        <p:txBody>
          <a:bodyPr wrap="square" lIns="0" tIns="0" rIns="0" bIns="0" rtlCol="0" anchor="t"/>
          <a:lstStyle/>
          <a:p>
            <a:pPr algn="l" indent="0" marL="0">
              <a:lnSpc>
                <a:spcPts val="20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Manual scheduling and follow-ups slow everything down</a:t>
            </a:r>
            <a:endParaRPr lang="en-US" sz="1600" dirty="0"/>
          </a:p>
        </p:txBody>
      </p:sp>
      <p:sp>
        <p:nvSpPr>
          <p:cNvPr id="17" name="Text 10"/>
          <p:cNvSpPr/>
          <p:nvPr/>
        </p:nvSpPr>
        <p:spPr>
          <a:xfrm>
            <a:off x="7924205" y="6141958"/>
            <a:ext cx="5066943" cy="454104"/>
          </a:xfrm>
          <a:prstGeom prst="rect">
            <a:avLst/>
          </a:prstGeom>
          <a:noFill/>
          <a:ln/>
        </p:spPr>
        <p:txBody>
          <a:bodyPr wrap="square" lIns="0" tIns="0" rIns="0" bIns="0" rtlCol="0" anchor="t"/>
          <a:lstStyle/>
          <a:p>
            <a:pPr algn="l" indent="0" marL="0">
              <a:lnSpc>
                <a:spcPts val="175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Administrative tasks consume valuable time that could be spent on strategic work.</a:t>
            </a:r>
            <a:endParaRPr lang="en-US" sz="1250" dirty="0"/>
          </a:p>
        </p:txBody>
      </p:sp>
      <p:sp>
        <p:nvSpPr>
          <p:cNvPr id="18" name="Shape 11"/>
          <p:cNvSpPr/>
          <p:nvPr/>
        </p:nvSpPr>
        <p:spPr>
          <a:xfrm>
            <a:off x="1639133" y="6730246"/>
            <a:ext cx="11352014" cy="576977"/>
          </a:xfrm>
          <a:prstGeom prst="roundRect">
            <a:avLst>
              <a:gd name="adj" fmla="val 25663"/>
            </a:avLst>
          </a:prstGeom>
          <a:solidFill>
            <a:srgbClr val="B5DAFC"/>
          </a:solidFill>
          <a:ln/>
        </p:spPr>
      </p:sp>
      <p:pic>
        <p:nvPicPr>
          <p:cNvPr id="19" name="Image 5" descr="preencoded.png">    </p:cNvPr>
          <p:cNvPicPr>
            <a:picLocks noChangeAspect="1"/>
          </p:cNvPicPr>
          <p:nvPr/>
        </p:nvPicPr>
        <p:blipFill>
          <a:blip r:embed="rId10"/>
          <a:stretch>
            <a:fillRect/>
          </a:stretch>
        </p:blipFill>
        <p:spPr>
          <a:xfrm>
            <a:off x="1803559" y="6959441"/>
            <a:ext cx="205621" cy="164425"/>
          </a:xfrm>
          <a:prstGeom prst="rect">
            <a:avLst/>
          </a:prstGeom>
        </p:spPr>
      </p:pic>
      <p:sp>
        <p:nvSpPr>
          <p:cNvPr id="20" name="Text 12"/>
          <p:cNvSpPr/>
          <p:nvPr/>
        </p:nvSpPr>
        <p:spPr>
          <a:xfrm>
            <a:off x="2173605" y="6890623"/>
            <a:ext cx="10653117" cy="227052"/>
          </a:xfrm>
          <a:prstGeom prst="rect">
            <a:avLst/>
          </a:prstGeom>
          <a:noFill/>
          <a:ln/>
        </p:spPr>
        <p:txBody>
          <a:bodyPr wrap="none" lIns="0" tIns="0" rIns="0" bIns="0" rtlCol="0" anchor="t"/>
          <a:lstStyle/>
          <a:p>
            <a:pPr algn="l" indent="0" marL="0">
              <a:lnSpc>
                <a:spcPts val="1750"/>
              </a:lnSpc>
              <a:buNone/>
            </a:pPr>
            <a:r>
              <a:rPr lang="en-US" sz="1250" dirty="0">
                <a:solidFill>
                  <a:srgbClr val="000000"/>
                </a:solidFill>
                <a:latin typeface="Instrument Sans Medium" pitchFamily="34" charset="0"/>
                <a:ea typeface="Instrument Sans Medium" pitchFamily="34" charset="-122"/>
                <a:cs typeface="Instrument Sans Medium" pitchFamily="34" charset="-120"/>
              </a:rPr>
              <a:t>The real problem isn't resume parsing — it's decision-making under cognitive overload.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028373" y="1165265"/>
            <a:ext cx="7306032" cy="483751"/>
          </a:xfrm>
          <a:prstGeom prst="rect">
            <a:avLst/>
          </a:prstGeom>
          <a:noFill/>
          <a:ln/>
        </p:spPr>
        <p:txBody>
          <a:bodyPr wrap="none" lIns="0" tIns="0" rIns="0" bIns="0" rtlCol="0" anchor="t"/>
          <a:lstStyle/>
          <a:p>
            <a:pPr algn="l" indent="0" marL="0">
              <a:lnSpc>
                <a:spcPts val="3800"/>
              </a:lnSpc>
              <a:buNone/>
            </a:pPr>
            <a:r>
              <a:rPr lang="en-US" sz="3000" dirty="0">
                <a:solidFill>
                  <a:srgbClr val="091C53"/>
                </a:solidFill>
                <a:latin typeface="Instrument Sans Semi Bold" pitchFamily="34" charset="0"/>
                <a:ea typeface="Instrument Sans Semi Bold" pitchFamily="34" charset="-122"/>
                <a:cs typeface="Instrument Sans Semi Bold" pitchFamily="34" charset="-120"/>
              </a:rPr>
              <a:t>Recruit-AI: Your Tireless Junior Recruiter</a:t>
            </a:r>
            <a:endParaRPr lang="en-US" sz="3000" dirty="0"/>
          </a:p>
        </p:txBody>
      </p:sp>
      <p:sp>
        <p:nvSpPr>
          <p:cNvPr id="4" name="Text 1"/>
          <p:cNvSpPr/>
          <p:nvPr/>
        </p:nvSpPr>
        <p:spPr>
          <a:xfrm>
            <a:off x="6028373" y="1807488"/>
            <a:ext cx="8060055" cy="260509"/>
          </a:xfrm>
          <a:prstGeom prst="rect">
            <a:avLst/>
          </a:prstGeom>
          <a:noFill/>
          <a:ln/>
        </p:spPr>
        <p:txBody>
          <a:bodyPr wrap="none" lIns="0" tIns="0" rIns="0" bIns="0" rtlCol="0" anchor="t"/>
          <a:lstStyle/>
          <a:p>
            <a:pPr algn="l" indent="0" marL="0">
              <a:lnSpc>
                <a:spcPts val="205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An agentic AI that automates resume screening and interview scheduling for small teams.</a:t>
            </a:r>
            <a:endParaRPr lang="en-US" sz="1500" dirty="0"/>
          </a:p>
        </p:txBody>
      </p:sp>
      <p:sp>
        <p:nvSpPr>
          <p:cNvPr id="5" name="Text 2"/>
          <p:cNvSpPr/>
          <p:nvPr/>
        </p:nvSpPr>
        <p:spPr>
          <a:xfrm>
            <a:off x="6028373" y="2226469"/>
            <a:ext cx="3096935" cy="387072"/>
          </a:xfrm>
          <a:prstGeom prst="rect">
            <a:avLst/>
          </a:prstGeom>
          <a:noFill/>
          <a:ln/>
        </p:spPr>
        <p:txBody>
          <a:bodyPr wrap="none" lIns="0" tIns="0" rIns="0" bIns="0" rtlCol="0" anchor="t"/>
          <a:lstStyle/>
          <a:p>
            <a:pPr algn="l" indent="0" marL="0">
              <a:lnSpc>
                <a:spcPts val="300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How It Works</a:t>
            </a:r>
            <a:endParaRPr lang="en-US" sz="2400" dirty="0"/>
          </a:p>
        </p:txBody>
      </p:sp>
      <p:sp>
        <p:nvSpPr>
          <p:cNvPr id="6" name="Text 3"/>
          <p:cNvSpPr/>
          <p:nvPr/>
        </p:nvSpPr>
        <p:spPr>
          <a:xfrm>
            <a:off x="6028373" y="2772013"/>
            <a:ext cx="154781" cy="193477"/>
          </a:xfrm>
          <a:prstGeom prst="rect">
            <a:avLst/>
          </a:prstGeom>
          <a:noFill/>
          <a:ln/>
        </p:spPr>
        <p:txBody>
          <a:bodyPr wrap="none" lIns="0" tIns="0" rIns="0" bIns="0" rtlCol="0" anchor="t"/>
          <a:lstStyle/>
          <a:p>
            <a:pPr algn="l" indent="0" marL="0">
              <a:lnSpc>
                <a:spcPts val="1600"/>
              </a:lnSpc>
              <a:buNone/>
            </a:pPr>
            <a:r>
              <a:rPr lang="en-US" sz="1200" dirty="0">
                <a:solidFill>
                  <a:srgbClr val="1E3063"/>
                </a:solidFill>
                <a:latin typeface="Instrument Sans Light" pitchFamily="34" charset="0"/>
                <a:ea typeface="Instrument Sans Light" pitchFamily="34" charset="-122"/>
                <a:cs typeface="Instrument Sans Light" pitchFamily="34" charset="-120"/>
              </a:rPr>
              <a:t>01</a:t>
            </a:r>
            <a:endParaRPr lang="en-US" sz="1200" dirty="0"/>
          </a:p>
        </p:txBody>
      </p:sp>
      <p:sp>
        <p:nvSpPr>
          <p:cNvPr id="7" name="Shape 4"/>
          <p:cNvSpPr/>
          <p:nvPr/>
        </p:nvSpPr>
        <p:spPr>
          <a:xfrm>
            <a:off x="6028373" y="3012281"/>
            <a:ext cx="8060055" cy="22860"/>
          </a:xfrm>
          <a:prstGeom prst="rect">
            <a:avLst/>
          </a:prstGeom>
          <a:solidFill>
            <a:srgbClr val="84C1FA"/>
          </a:solidFill>
          <a:ln/>
        </p:spPr>
      </p:sp>
      <p:sp>
        <p:nvSpPr>
          <p:cNvPr id="8" name="Text 5"/>
          <p:cNvSpPr/>
          <p:nvPr/>
        </p:nvSpPr>
        <p:spPr>
          <a:xfrm>
            <a:off x="6028373" y="3135392"/>
            <a:ext cx="3256597" cy="241935"/>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Upload Job Description + Resume(s)</a:t>
            </a:r>
            <a:endParaRPr lang="en-US" sz="1500" dirty="0"/>
          </a:p>
        </p:txBody>
      </p:sp>
      <p:sp>
        <p:nvSpPr>
          <p:cNvPr id="9" name="Text 6"/>
          <p:cNvSpPr/>
          <p:nvPr/>
        </p:nvSpPr>
        <p:spPr>
          <a:xfrm>
            <a:off x="6028373" y="3599021"/>
            <a:ext cx="154781" cy="193477"/>
          </a:xfrm>
          <a:prstGeom prst="rect">
            <a:avLst/>
          </a:prstGeom>
          <a:noFill/>
          <a:ln/>
        </p:spPr>
        <p:txBody>
          <a:bodyPr wrap="none" lIns="0" tIns="0" rIns="0" bIns="0" rtlCol="0" anchor="t"/>
          <a:lstStyle/>
          <a:p>
            <a:pPr algn="l" indent="0" marL="0">
              <a:lnSpc>
                <a:spcPts val="1600"/>
              </a:lnSpc>
              <a:buNone/>
            </a:pPr>
            <a:r>
              <a:rPr lang="en-US" sz="1200" dirty="0">
                <a:solidFill>
                  <a:srgbClr val="1E3063"/>
                </a:solidFill>
                <a:latin typeface="Instrument Sans Light" pitchFamily="34" charset="0"/>
                <a:ea typeface="Instrument Sans Light" pitchFamily="34" charset="-122"/>
                <a:cs typeface="Instrument Sans Light" pitchFamily="34" charset="-120"/>
              </a:rPr>
              <a:t>02</a:t>
            </a:r>
            <a:endParaRPr lang="en-US" sz="1200" dirty="0"/>
          </a:p>
        </p:txBody>
      </p:sp>
      <p:sp>
        <p:nvSpPr>
          <p:cNvPr id="10" name="Shape 7"/>
          <p:cNvSpPr/>
          <p:nvPr/>
        </p:nvSpPr>
        <p:spPr>
          <a:xfrm>
            <a:off x="6028373" y="3839289"/>
            <a:ext cx="8060055" cy="22860"/>
          </a:xfrm>
          <a:prstGeom prst="rect">
            <a:avLst/>
          </a:prstGeom>
          <a:solidFill>
            <a:srgbClr val="84C1FA"/>
          </a:solidFill>
          <a:ln/>
        </p:spPr>
      </p:sp>
      <p:sp>
        <p:nvSpPr>
          <p:cNvPr id="11" name="Text 8"/>
          <p:cNvSpPr/>
          <p:nvPr/>
        </p:nvSpPr>
        <p:spPr>
          <a:xfrm>
            <a:off x="6028373" y="3962400"/>
            <a:ext cx="2275523" cy="241935"/>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AI evaluates candidate fit</a:t>
            </a:r>
            <a:endParaRPr lang="en-US" sz="1500" dirty="0"/>
          </a:p>
        </p:txBody>
      </p:sp>
      <p:sp>
        <p:nvSpPr>
          <p:cNvPr id="12" name="Text 9"/>
          <p:cNvSpPr/>
          <p:nvPr/>
        </p:nvSpPr>
        <p:spPr>
          <a:xfrm>
            <a:off x="6028373" y="4426029"/>
            <a:ext cx="154781" cy="193477"/>
          </a:xfrm>
          <a:prstGeom prst="rect">
            <a:avLst/>
          </a:prstGeom>
          <a:noFill/>
          <a:ln/>
        </p:spPr>
        <p:txBody>
          <a:bodyPr wrap="none" lIns="0" tIns="0" rIns="0" bIns="0" rtlCol="0" anchor="t"/>
          <a:lstStyle/>
          <a:p>
            <a:pPr algn="l" indent="0" marL="0">
              <a:lnSpc>
                <a:spcPts val="1600"/>
              </a:lnSpc>
              <a:buNone/>
            </a:pPr>
            <a:r>
              <a:rPr lang="en-US" sz="1200" dirty="0">
                <a:solidFill>
                  <a:srgbClr val="1E3063"/>
                </a:solidFill>
                <a:latin typeface="Instrument Sans Light" pitchFamily="34" charset="0"/>
                <a:ea typeface="Instrument Sans Light" pitchFamily="34" charset="-122"/>
                <a:cs typeface="Instrument Sans Light" pitchFamily="34" charset="-120"/>
              </a:rPr>
              <a:t>03</a:t>
            </a:r>
            <a:endParaRPr lang="en-US" sz="1200" dirty="0"/>
          </a:p>
        </p:txBody>
      </p:sp>
      <p:sp>
        <p:nvSpPr>
          <p:cNvPr id="13" name="Shape 10"/>
          <p:cNvSpPr/>
          <p:nvPr/>
        </p:nvSpPr>
        <p:spPr>
          <a:xfrm>
            <a:off x="6028373" y="4666297"/>
            <a:ext cx="8060055" cy="22860"/>
          </a:xfrm>
          <a:prstGeom prst="rect">
            <a:avLst/>
          </a:prstGeom>
          <a:solidFill>
            <a:srgbClr val="84C1FA"/>
          </a:solidFill>
          <a:ln/>
        </p:spPr>
      </p:sp>
      <p:sp>
        <p:nvSpPr>
          <p:cNvPr id="14" name="Text 11"/>
          <p:cNvSpPr/>
          <p:nvPr/>
        </p:nvSpPr>
        <p:spPr>
          <a:xfrm>
            <a:off x="6028373" y="4789408"/>
            <a:ext cx="3007043" cy="241935"/>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Generates comprehensive report</a:t>
            </a:r>
            <a:endParaRPr lang="en-US" sz="1500" dirty="0"/>
          </a:p>
        </p:txBody>
      </p:sp>
      <p:sp>
        <p:nvSpPr>
          <p:cNvPr id="15" name="Text 12"/>
          <p:cNvSpPr/>
          <p:nvPr/>
        </p:nvSpPr>
        <p:spPr>
          <a:xfrm>
            <a:off x="6028373" y="5094684"/>
            <a:ext cx="8060055" cy="625356"/>
          </a:xfrm>
          <a:prstGeom prst="rect">
            <a:avLst/>
          </a:prstGeom>
          <a:noFill/>
          <a:ln/>
        </p:spPr>
        <p:txBody>
          <a:bodyPr wrap="square" lIns="0" tIns="0" rIns="0" bIns="0" rtlCol="0" anchor="t"/>
          <a:lstStyle/>
          <a:p>
            <a:pPr algn="l" marL="342900" indent="-342900">
              <a:lnSpc>
                <a:spcPts val="1600"/>
              </a:lnSpc>
              <a:buSzPct val="100000"/>
              <a:buChar char="•"/>
            </a:pPr>
            <a:r>
              <a:rPr lang="en-US" sz="1200" dirty="0">
                <a:solidFill>
                  <a:srgbClr val="1E3063"/>
                </a:solidFill>
                <a:latin typeface="Instrument Sans Medium" pitchFamily="34" charset="0"/>
                <a:ea typeface="Instrument Sans Medium" pitchFamily="34" charset="-122"/>
                <a:cs typeface="Instrument Sans Medium" pitchFamily="34" charset="-120"/>
              </a:rPr>
              <a:t>Match score (0–100)</a:t>
            </a:r>
            <a:endParaRPr lang="en-US" sz="1200" dirty="0"/>
          </a:p>
          <a:p>
            <a:pPr algn="l" marL="342900" indent="-342900">
              <a:lnSpc>
                <a:spcPts val="1600"/>
              </a:lnSpc>
              <a:buSzPct val="100000"/>
              <a:buChar char="•"/>
            </a:pPr>
            <a:r>
              <a:rPr lang="en-US" sz="1200" dirty="0">
                <a:solidFill>
                  <a:srgbClr val="1E3063"/>
                </a:solidFill>
                <a:latin typeface="Instrument Sans Medium" pitchFamily="34" charset="0"/>
                <a:ea typeface="Instrument Sans Medium" pitchFamily="34" charset="-122"/>
                <a:cs typeface="Instrument Sans Medium" pitchFamily="34" charset="-120"/>
              </a:rPr>
              <a:t>Clear reasoning</a:t>
            </a:r>
            <a:endParaRPr lang="en-US" sz="1200" dirty="0"/>
          </a:p>
          <a:p>
            <a:pPr algn="l" marL="342900" indent="-342900">
              <a:lnSpc>
                <a:spcPts val="1600"/>
              </a:lnSpc>
              <a:buSzPct val="100000"/>
              <a:buChar char="•"/>
            </a:pPr>
            <a:r>
              <a:rPr lang="en-US" sz="1200" dirty="0">
                <a:solidFill>
                  <a:srgbClr val="1E3063"/>
                </a:solidFill>
                <a:latin typeface="Instrument Sans Medium" pitchFamily="34" charset="0"/>
                <a:ea typeface="Instrument Sans Medium" pitchFamily="34" charset="-122"/>
                <a:cs typeface="Instrument Sans Medium" pitchFamily="34" charset="-120"/>
              </a:rPr>
              <a:t>Recommended action (Interview / Reject / Hold)</a:t>
            </a:r>
            <a:endParaRPr lang="en-US" sz="1200" dirty="0"/>
          </a:p>
        </p:txBody>
      </p:sp>
      <p:sp>
        <p:nvSpPr>
          <p:cNvPr id="16" name="Text 13"/>
          <p:cNvSpPr/>
          <p:nvPr/>
        </p:nvSpPr>
        <p:spPr>
          <a:xfrm>
            <a:off x="6028373" y="5941735"/>
            <a:ext cx="154781" cy="193477"/>
          </a:xfrm>
          <a:prstGeom prst="rect">
            <a:avLst/>
          </a:prstGeom>
          <a:noFill/>
          <a:ln/>
        </p:spPr>
        <p:txBody>
          <a:bodyPr wrap="none" lIns="0" tIns="0" rIns="0" bIns="0" rtlCol="0" anchor="t"/>
          <a:lstStyle/>
          <a:p>
            <a:pPr algn="l" indent="0" marL="0">
              <a:lnSpc>
                <a:spcPts val="1600"/>
              </a:lnSpc>
              <a:buNone/>
            </a:pPr>
            <a:r>
              <a:rPr lang="en-US" sz="1200" dirty="0">
                <a:solidFill>
                  <a:srgbClr val="1E3063"/>
                </a:solidFill>
                <a:latin typeface="Instrument Sans Light" pitchFamily="34" charset="0"/>
                <a:ea typeface="Instrument Sans Light" pitchFamily="34" charset="-122"/>
                <a:cs typeface="Instrument Sans Light" pitchFamily="34" charset="-120"/>
              </a:rPr>
              <a:t>04</a:t>
            </a:r>
            <a:endParaRPr lang="en-US" sz="1200" dirty="0"/>
          </a:p>
        </p:txBody>
      </p:sp>
      <p:sp>
        <p:nvSpPr>
          <p:cNvPr id="17" name="Shape 14"/>
          <p:cNvSpPr/>
          <p:nvPr/>
        </p:nvSpPr>
        <p:spPr>
          <a:xfrm>
            <a:off x="6028373" y="6182003"/>
            <a:ext cx="8060055" cy="22860"/>
          </a:xfrm>
          <a:prstGeom prst="rect">
            <a:avLst/>
          </a:prstGeom>
          <a:solidFill>
            <a:srgbClr val="84C1FA"/>
          </a:solidFill>
          <a:ln/>
        </p:spPr>
      </p:sp>
      <p:sp>
        <p:nvSpPr>
          <p:cNvPr id="18" name="Text 15"/>
          <p:cNvSpPr/>
          <p:nvPr/>
        </p:nvSpPr>
        <p:spPr>
          <a:xfrm>
            <a:off x="6028373" y="6305113"/>
            <a:ext cx="4647128" cy="241935"/>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Automatically drafts emails or schedules interviews</a:t>
            </a:r>
            <a:endParaRPr lang="en-US" sz="1500" dirty="0"/>
          </a:p>
        </p:txBody>
      </p:sp>
      <p:sp>
        <p:nvSpPr>
          <p:cNvPr id="19" name="Text 16"/>
          <p:cNvSpPr/>
          <p:nvPr/>
        </p:nvSpPr>
        <p:spPr>
          <a:xfrm>
            <a:off x="6028373" y="6781959"/>
            <a:ext cx="8060055" cy="208478"/>
          </a:xfrm>
          <a:prstGeom prst="rect">
            <a:avLst/>
          </a:prstGeom>
          <a:noFill/>
          <a:ln/>
        </p:spPr>
        <p:txBody>
          <a:bodyPr wrap="none" lIns="0" tIns="0" rIns="0" bIns="0" rtlCol="0" anchor="t"/>
          <a:lstStyle/>
          <a:p>
            <a:pPr algn="l" indent="0" marL="0">
              <a:lnSpc>
                <a:spcPts val="16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Like a junior recruiter who never gets tired.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0334" y="647462"/>
            <a:ext cx="8087320" cy="687824"/>
          </a:xfrm>
          <a:prstGeom prst="rect">
            <a:avLst/>
          </a:prstGeom>
          <a:noFill/>
          <a:ln/>
        </p:spPr>
        <p:txBody>
          <a:bodyPr wrap="none" lIns="0" tIns="0" rIns="0" bIns="0" rtlCol="0" anchor="t"/>
          <a:lstStyle/>
          <a:p>
            <a:pPr algn="l" indent="0" marL="0">
              <a:lnSpc>
                <a:spcPts val="5400"/>
              </a:lnSpc>
              <a:buNone/>
            </a:pPr>
            <a:r>
              <a:rPr lang="en-US" sz="4300" dirty="0">
                <a:solidFill>
                  <a:srgbClr val="091C53"/>
                </a:solidFill>
                <a:latin typeface="Instrument Sans Semi Bold" pitchFamily="34" charset="0"/>
                <a:ea typeface="Instrument Sans Semi Bold" pitchFamily="34" charset="-122"/>
                <a:cs typeface="Instrument Sans Semi Bold" pitchFamily="34" charset="-120"/>
              </a:rPr>
              <a:t>The Prototype: What Users See</a:t>
            </a:r>
            <a:endParaRPr lang="en-US" sz="4300" dirty="0"/>
          </a:p>
        </p:txBody>
      </p:sp>
      <p:sp>
        <p:nvSpPr>
          <p:cNvPr id="3" name="Text 1"/>
          <p:cNvSpPr/>
          <p:nvPr/>
        </p:nvSpPr>
        <p:spPr>
          <a:xfrm>
            <a:off x="770334" y="1869043"/>
            <a:ext cx="2751177" cy="343853"/>
          </a:xfrm>
          <a:prstGeom prst="rect">
            <a:avLst/>
          </a:prstGeom>
          <a:noFill/>
          <a:ln/>
        </p:spPr>
        <p:txBody>
          <a:bodyPr wrap="none" lIns="0" tIns="0" rIns="0" bIns="0" rtlCol="0" anchor="t"/>
          <a:lstStyle/>
          <a:p>
            <a:pPr algn="l" indent="0" marL="0">
              <a:lnSpc>
                <a:spcPts val="2700"/>
              </a:lnSpc>
              <a:buNone/>
            </a:pPr>
            <a:r>
              <a:rPr lang="en-US" sz="2150" dirty="0">
                <a:solidFill>
                  <a:srgbClr val="091C53"/>
                </a:solidFill>
                <a:latin typeface="Instrument Sans Semi Bold" pitchFamily="34" charset="0"/>
                <a:ea typeface="Instrument Sans Semi Bold" pitchFamily="34" charset="-122"/>
                <a:cs typeface="Instrument Sans Semi Bold" pitchFamily="34" charset="-120"/>
              </a:rPr>
              <a:t>Core User Flow</a:t>
            </a:r>
            <a:endParaRPr lang="en-US" sz="2150" dirty="0"/>
          </a:p>
        </p:txBody>
      </p:sp>
      <p:sp>
        <p:nvSpPr>
          <p:cNvPr id="4" name="Text 2"/>
          <p:cNvSpPr/>
          <p:nvPr/>
        </p:nvSpPr>
        <p:spPr>
          <a:xfrm>
            <a:off x="770334" y="2453164"/>
            <a:ext cx="220028" cy="275034"/>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Light" pitchFamily="34" charset="0"/>
                <a:ea typeface="Instrument Sans Light" pitchFamily="34" charset="-122"/>
                <a:cs typeface="Instrument Sans Light" pitchFamily="34" charset="-120"/>
              </a:rPr>
              <a:t>01</a:t>
            </a:r>
            <a:endParaRPr lang="en-US" sz="1700" dirty="0"/>
          </a:p>
        </p:txBody>
      </p:sp>
      <p:sp>
        <p:nvSpPr>
          <p:cNvPr id="5" name="Shape 3"/>
          <p:cNvSpPr/>
          <p:nvPr/>
        </p:nvSpPr>
        <p:spPr>
          <a:xfrm>
            <a:off x="770334" y="2796659"/>
            <a:ext cx="6276380" cy="30480"/>
          </a:xfrm>
          <a:prstGeom prst="rect">
            <a:avLst/>
          </a:prstGeom>
          <a:solidFill>
            <a:srgbClr val="84C1FA"/>
          </a:solidFill>
          <a:ln/>
        </p:spPr>
      </p:sp>
      <p:sp>
        <p:nvSpPr>
          <p:cNvPr id="6" name="Text 4"/>
          <p:cNvSpPr/>
          <p:nvPr/>
        </p:nvSpPr>
        <p:spPr>
          <a:xfrm>
            <a:off x="770334" y="2967633"/>
            <a:ext cx="6276380" cy="346948"/>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Medium" pitchFamily="34" charset="0"/>
                <a:ea typeface="Instrument Sans Medium" pitchFamily="34" charset="-122"/>
                <a:cs typeface="Instrument Sans Medium" pitchFamily="34" charset="-120"/>
              </a:rPr>
              <a:t>Upload Job Description</a:t>
            </a:r>
            <a:endParaRPr lang="en-US" sz="1700" dirty="0"/>
          </a:p>
        </p:txBody>
      </p:sp>
      <p:sp>
        <p:nvSpPr>
          <p:cNvPr id="7" name="Text 5"/>
          <p:cNvSpPr/>
          <p:nvPr/>
        </p:nvSpPr>
        <p:spPr>
          <a:xfrm>
            <a:off x="770334" y="3543761"/>
            <a:ext cx="220028" cy="275034"/>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Light" pitchFamily="34" charset="0"/>
                <a:ea typeface="Instrument Sans Light" pitchFamily="34" charset="-122"/>
                <a:cs typeface="Instrument Sans Light" pitchFamily="34" charset="-120"/>
              </a:rPr>
              <a:t>02</a:t>
            </a:r>
            <a:endParaRPr lang="en-US" sz="1700" dirty="0"/>
          </a:p>
        </p:txBody>
      </p:sp>
      <p:sp>
        <p:nvSpPr>
          <p:cNvPr id="8" name="Shape 6"/>
          <p:cNvSpPr/>
          <p:nvPr/>
        </p:nvSpPr>
        <p:spPr>
          <a:xfrm>
            <a:off x="770334" y="3887257"/>
            <a:ext cx="6276380" cy="30480"/>
          </a:xfrm>
          <a:prstGeom prst="rect">
            <a:avLst/>
          </a:prstGeom>
          <a:solidFill>
            <a:srgbClr val="84C1FA"/>
          </a:solidFill>
          <a:ln/>
        </p:spPr>
      </p:sp>
      <p:sp>
        <p:nvSpPr>
          <p:cNvPr id="9" name="Text 7"/>
          <p:cNvSpPr/>
          <p:nvPr/>
        </p:nvSpPr>
        <p:spPr>
          <a:xfrm>
            <a:off x="770334" y="4058230"/>
            <a:ext cx="6276380" cy="346948"/>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Medium" pitchFamily="34" charset="0"/>
                <a:ea typeface="Instrument Sans Medium" pitchFamily="34" charset="-122"/>
                <a:cs typeface="Instrument Sans Medium" pitchFamily="34" charset="-120"/>
              </a:rPr>
              <a:t>Upload Resume</a:t>
            </a:r>
            <a:endParaRPr lang="en-US" sz="1700" dirty="0"/>
          </a:p>
        </p:txBody>
      </p:sp>
      <p:sp>
        <p:nvSpPr>
          <p:cNvPr id="10" name="Text 8"/>
          <p:cNvSpPr/>
          <p:nvPr/>
        </p:nvSpPr>
        <p:spPr>
          <a:xfrm>
            <a:off x="770334" y="4783678"/>
            <a:ext cx="220028" cy="275034"/>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Light" pitchFamily="34" charset="0"/>
                <a:ea typeface="Instrument Sans Light" pitchFamily="34" charset="-122"/>
                <a:cs typeface="Instrument Sans Light" pitchFamily="34" charset="-120"/>
              </a:rPr>
              <a:t>03</a:t>
            </a:r>
            <a:endParaRPr lang="en-US" sz="1700" dirty="0"/>
          </a:p>
        </p:txBody>
      </p:sp>
      <p:sp>
        <p:nvSpPr>
          <p:cNvPr id="11" name="Shape 9"/>
          <p:cNvSpPr/>
          <p:nvPr/>
        </p:nvSpPr>
        <p:spPr>
          <a:xfrm>
            <a:off x="770334" y="5127174"/>
            <a:ext cx="6276380" cy="30480"/>
          </a:xfrm>
          <a:prstGeom prst="rect">
            <a:avLst/>
          </a:prstGeom>
          <a:solidFill>
            <a:srgbClr val="84C1FA"/>
          </a:solidFill>
          <a:ln/>
        </p:spPr>
      </p:sp>
      <p:sp>
        <p:nvSpPr>
          <p:cNvPr id="12" name="Text 10"/>
          <p:cNvSpPr/>
          <p:nvPr/>
        </p:nvSpPr>
        <p:spPr>
          <a:xfrm>
            <a:off x="770334" y="5298147"/>
            <a:ext cx="6276380" cy="346948"/>
          </a:xfrm>
          <a:prstGeom prst="rect">
            <a:avLst/>
          </a:prstGeom>
          <a:noFill/>
          <a:ln/>
        </p:spPr>
        <p:txBody>
          <a:bodyPr wrap="none" lIns="0" tIns="0" rIns="0" bIns="0" rtlCol="0" anchor="t"/>
          <a:lstStyle/>
          <a:p>
            <a:pPr algn="l" indent="0" marL="0">
              <a:lnSpc>
                <a:spcPts val="2700"/>
              </a:lnSpc>
              <a:buNone/>
            </a:pPr>
            <a:r>
              <a:rPr lang="en-US" sz="1700" dirty="0">
                <a:solidFill>
                  <a:srgbClr val="1E3063"/>
                </a:solidFill>
                <a:latin typeface="Instrument Sans Medium" pitchFamily="34" charset="0"/>
                <a:ea typeface="Instrument Sans Medium" pitchFamily="34" charset="-122"/>
                <a:cs typeface="Instrument Sans Medium" pitchFamily="34" charset="-120"/>
              </a:rPr>
              <a:t>View AI analysis:</a:t>
            </a:r>
            <a:endParaRPr lang="en-US" sz="1700" dirty="0"/>
          </a:p>
        </p:txBody>
      </p:sp>
      <p:sp>
        <p:nvSpPr>
          <p:cNvPr id="13" name="Text 11"/>
          <p:cNvSpPr/>
          <p:nvPr/>
        </p:nvSpPr>
        <p:spPr>
          <a:xfrm>
            <a:off x="770334" y="5837262"/>
            <a:ext cx="6276380" cy="1040830"/>
          </a:xfrm>
          <a:prstGeom prst="rect">
            <a:avLst/>
          </a:prstGeom>
          <a:noFill/>
          <a:ln/>
        </p:spPr>
        <p:txBody>
          <a:bodyPr wrap="square" lIns="0" tIns="0" rIns="0" bIns="0" rtlCol="0" anchor="t"/>
          <a:lstStyle/>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Fit score</a:t>
            </a:r>
            <a:endParaRPr lang="en-US" sz="1700" dirty="0"/>
          </a:p>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Strengths &amp; gaps</a:t>
            </a:r>
            <a:endParaRPr lang="en-US" sz="1700" dirty="0"/>
          </a:p>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Recommendation</a:t>
            </a:r>
            <a:endParaRPr lang="en-US" sz="1700" dirty="0"/>
          </a:p>
        </p:txBody>
      </p:sp>
      <p:sp>
        <p:nvSpPr>
          <p:cNvPr id="14" name="Text 12"/>
          <p:cNvSpPr/>
          <p:nvPr/>
        </p:nvSpPr>
        <p:spPr>
          <a:xfrm>
            <a:off x="7591306" y="1869043"/>
            <a:ext cx="2751177" cy="343853"/>
          </a:xfrm>
          <a:prstGeom prst="rect">
            <a:avLst/>
          </a:prstGeom>
          <a:noFill/>
          <a:ln/>
        </p:spPr>
        <p:txBody>
          <a:bodyPr wrap="none" lIns="0" tIns="0" rIns="0" bIns="0" rtlCol="0" anchor="t"/>
          <a:lstStyle/>
          <a:p>
            <a:pPr algn="l" indent="0" marL="0">
              <a:lnSpc>
                <a:spcPts val="2700"/>
              </a:lnSpc>
              <a:buNone/>
            </a:pPr>
            <a:r>
              <a:rPr lang="en-US" sz="2150" dirty="0">
                <a:solidFill>
                  <a:srgbClr val="091C53"/>
                </a:solidFill>
                <a:latin typeface="Instrument Sans Semi Bold" pitchFamily="34" charset="0"/>
                <a:ea typeface="Instrument Sans Semi Bold" pitchFamily="34" charset="-122"/>
                <a:cs typeface="Instrument Sans Semi Bold" pitchFamily="34" charset="-120"/>
              </a:rPr>
              <a:t>Why This Matters</a:t>
            </a:r>
            <a:endParaRPr lang="en-US" sz="2150" dirty="0"/>
          </a:p>
        </p:txBody>
      </p:sp>
      <p:sp>
        <p:nvSpPr>
          <p:cNvPr id="15" name="Text 13"/>
          <p:cNvSpPr/>
          <p:nvPr/>
        </p:nvSpPr>
        <p:spPr>
          <a:xfrm>
            <a:off x="7591306" y="2426375"/>
            <a:ext cx="6276380" cy="1040830"/>
          </a:xfrm>
          <a:prstGeom prst="rect">
            <a:avLst/>
          </a:prstGeom>
          <a:noFill/>
          <a:ln/>
        </p:spPr>
        <p:txBody>
          <a:bodyPr wrap="square" lIns="0" tIns="0" rIns="0" bIns="0" rtlCol="0" anchor="t"/>
          <a:lstStyle/>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Fast</a:t>
            </a:r>
            <a:endParaRPr lang="en-US" sz="1700" dirty="0"/>
          </a:p>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Explainable</a:t>
            </a:r>
            <a:endParaRPr lang="en-US" sz="1700" dirty="0"/>
          </a:p>
          <a:p>
            <a:pPr algn="l" marL="342900" indent="-342900">
              <a:lnSpc>
                <a:spcPts val="2700"/>
              </a:lnSpc>
              <a:buSzPct val="100000"/>
              <a:buChar char="•"/>
            </a:pPr>
            <a:r>
              <a:rPr lang="en-US" sz="1700" dirty="0">
                <a:solidFill>
                  <a:srgbClr val="1E3063"/>
                </a:solidFill>
                <a:latin typeface="Instrument Sans Medium" pitchFamily="34" charset="0"/>
                <a:ea typeface="Instrument Sans Medium" pitchFamily="34" charset="-122"/>
                <a:cs typeface="Instrument Sans Medium" pitchFamily="34" charset="-120"/>
              </a:rPr>
              <a:t>Confidence-building, not "black box AI"</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36890" y="428625"/>
            <a:ext cx="5754767" cy="414576"/>
          </a:xfrm>
          <a:prstGeom prst="rect">
            <a:avLst/>
          </a:prstGeom>
          <a:noFill/>
          <a:ln/>
        </p:spPr>
        <p:txBody>
          <a:bodyPr wrap="none" lIns="0" tIns="0" rIns="0" bIns="0" rtlCol="0" anchor="t"/>
          <a:lstStyle/>
          <a:p>
            <a:pPr algn="l" indent="0" marL="0">
              <a:lnSpc>
                <a:spcPts val="3250"/>
              </a:lnSpc>
              <a:buNone/>
            </a:pPr>
            <a:r>
              <a:rPr lang="en-US" sz="2600" dirty="0">
                <a:solidFill>
                  <a:srgbClr val="091C53"/>
                </a:solidFill>
                <a:latin typeface="Instrument Sans Semi Bold" pitchFamily="34" charset="0"/>
                <a:ea typeface="Instrument Sans Semi Bold" pitchFamily="34" charset="-122"/>
                <a:cs typeface="Instrument Sans Semi Bold" pitchFamily="34" charset="-120"/>
              </a:rPr>
              <a:t>Technical Architecture: How It Works</a:t>
            </a:r>
            <a:endParaRPr lang="en-US" sz="2600" dirty="0"/>
          </a:p>
        </p:txBody>
      </p:sp>
      <p:pic>
        <p:nvPicPr>
          <p:cNvPr id="3" name="Image 0" descr="preencoded.png">    </p:cNvPr>
          <p:cNvPicPr>
            <a:picLocks noChangeAspect="1"/>
          </p:cNvPicPr>
          <p:nvPr/>
        </p:nvPicPr>
        <p:blipFill>
          <a:blip r:embed="rId1"/>
          <a:stretch>
            <a:fillRect/>
          </a:stretch>
        </p:blipFill>
        <p:spPr>
          <a:xfrm>
            <a:off x="2736890" y="998458"/>
            <a:ext cx="9156621" cy="4190524"/>
          </a:xfrm>
          <a:prstGeom prst="rect">
            <a:avLst/>
          </a:prstGeom>
        </p:spPr>
      </p:pic>
      <p:sp>
        <p:nvSpPr>
          <p:cNvPr id="4" name="Text 1"/>
          <p:cNvSpPr/>
          <p:nvPr/>
        </p:nvSpPr>
        <p:spPr>
          <a:xfrm>
            <a:off x="9444172" y="1571640"/>
            <a:ext cx="2025557" cy="253195"/>
          </a:xfrm>
          <a:prstGeom prst="rect">
            <a:avLst/>
          </a:prstGeom>
          <a:noFill/>
          <a:ln/>
        </p:spPr>
        <p:txBody>
          <a:bodyPr wrap="none" lIns="0" tIns="0" rIns="0" bIns="0" rtlCol="0" anchor="t"/>
          <a:lstStyle/>
          <a:p>
            <a:pPr algn="l" indent="0" marL="0">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Integrations</a:t>
            </a:r>
            <a:endParaRPr lang="en-US" sz="1350" dirty="0"/>
          </a:p>
        </p:txBody>
      </p:sp>
      <p:sp>
        <p:nvSpPr>
          <p:cNvPr id="5" name="Text 2"/>
          <p:cNvSpPr/>
          <p:nvPr/>
        </p:nvSpPr>
        <p:spPr>
          <a:xfrm>
            <a:off x="9444172" y="1896855"/>
            <a:ext cx="2232614" cy="320995"/>
          </a:xfrm>
          <a:prstGeom prst="rect">
            <a:avLst/>
          </a:prstGeom>
          <a:noFill/>
          <a:ln/>
        </p:spPr>
        <p:txBody>
          <a:bodyPr wrap="square" lIns="0" tIns="0" rIns="0" bIns="0" rtlCol="0" anchor="t"/>
          <a:lstStyle/>
          <a:p>
            <a:pPr algn="l" indent="0" marL="0">
              <a:lnSpc>
                <a:spcPts val="10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Email drafting and calendar scheduling</a:t>
            </a:r>
            <a:endParaRPr lang="en-US" sz="1050" dirty="0"/>
          </a:p>
        </p:txBody>
      </p:sp>
      <p:sp>
        <p:nvSpPr>
          <p:cNvPr id="6" name="Text 3"/>
          <p:cNvSpPr/>
          <p:nvPr/>
        </p:nvSpPr>
        <p:spPr>
          <a:xfrm>
            <a:off x="2980392" y="2949020"/>
            <a:ext cx="2025558" cy="253195"/>
          </a:xfrm>
          <a:prstGeom prst="rect">
            <a:avLst/>
          </a:prstGeom>
          <a:noFill/>
          <a:ln/>
        </p:spPr>
        <p:txBody>
          <a:bodyPr wrap="none" lIns="0" tIns="0" rIns="0" bIns="0" rtlCol="0" anchor="t"/>
          <a:lstStyle/>
          <a:p>
            <a:pPr algn="r" indent="0" marL="0">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Backend</a:t>
            </a:r>
            <a:endParaRPr lang="en-US" sz="1350" dirty="0"/>
          </a:p>
        </p:txBody>
      </p:sp>
      <p:sp>
        <p:nvSpPr>
          <p:cNvPr id="7" name="Text 4"/>
          <p:cNvSpPr/>
          <p:nvPr/>
        </p:nvSpPr>
        <p:spPr>
          <a:xfrm>
            <a:off x="2953384" y="3274234"/>
            <a:ext cx="2052565" cy="320995"/>
          </a:xfrm>
          <a:prstGeom prst="rect">
            <a:avLst/>
          </a:prstGeom>
          <a:noFill/>
          <a:ln/>
        </p:spPr>
        <p:txBody>
          <a:bodyPr wrap="square" lIns="0" tIns="0" rIns="0" bIns="0" rtlCol="0" anchor="t"/>
          <a:lstStyle/>
          <a:p>
            <a:pPr algn="r" indent="0" marL="0">
              <a:lnSpc>
                <a:spcPts val="10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n8n agent workflow and LLM reasoning</a:t>
            </a:r>
            <a:endParaRPr lang="en-US" sz="1050" dirty="0"/>
          </a:p>
        </p:txBody>
      </p:sp>
      <p:sp>
        <p:nvSpPr>
          <p:cNvPr id="8" name="Text 5"/>
          <p:cNvSpPr/>
          <p:nvPr/>
        </p:nvSpPr>
        <p:spPr>
          <a:xfrm>
            <a:off x="9444172" y="3660216"/>
            <a:ext cx="2025557" cy="253195"/>
          </a:xfrm>
          <a:prstGeom prst="rect">
            <a:avLst/>
          </a:prstGeom>
          <a:noFill/>
          <a:ln/>
        </p:spPr>
        <p:txBody>
          <a:bodyPr wrap="none" lIns="0" tIns="0" rIns="0" bIns="0" rtlCol="0" anchor="t"/>
          <a:lstStyle/>
          <a:p>
            <a:pPr algn="l" indent="0" marL="0">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Frontend</a:t>
            </a:r>
            <a:endParaRPr lang="en-US" sz="1350" dirty="0"/>
          </a:p>
        </p:txBody>
      </p:sp>
      <p:sp>
        <p:nvSpPr>
          <p:cNvPr id="9" name="Text 6"/>
          <p:cNvSpPr/>
          <p:nvPr/>
        </p:nvSpPr>
        <p:spPr>
          <a:xfrm>
            <a:off x="9444172" y="3985430"/>
            <a:ext cx="2232614" cy="320994"/>
          </a:xfrm>
          <a:prstGeom prst="rect">
            <a:avLst/>
          </a:prstGeom>
          <a:noFill/>
          <a:ln/>
        </p:spPr>
        <p:txBody>
          <a:bodyPr wrap="square" lIns="0" tIns="0" rIns="0" bIns="0" rtlCol="0" anchor="t"/>
          <a:lstStyle/>
          <a:p>
            <a:pPr algn="l" indent="0" marL="0">
              <a:lnSpc>
                <a:spcPts val="10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Simple web UI for uploads &amp; results</a:t>
            </a:r>
            <a:endParaRPr lang="en-US" sz="1050" dirty="0"/>
          </a:p>
        </p:txBody>
      </p:sp>
      <p:sp>
        <p:nvSpPr>
          <p:cNvPr id="10" name="Shape 7"/>
          <p:cNvSpPr/>
          <p:nvPr/>
        </p:nvSpPr>
        <p:spPr>
          <a:xfrm>
            <a:off x="2736890" y="5276255"/>
            <a:ext cx="3000375" cy="2022277"/>
          </a:xfrm>
          <a:prstGeom prst="roundRect">
            <a:avLst>
              <a:gd name="adj" fmla="val 5906"/>
            </a:avLst>
          </a:prstGeom>
          <a:solidFill>
            <a:srgbClr val="FFFFFF"/>
          </a:solidFill>
          <a:ln w="15240">
            <a:solidFill>
              <a:srgbClr val="B4CCE3"/>
            </a:solidFill>
            <a:prstDash val="solid"/>
          </a:ln>
        </p:spPr>
      </p:sp>
      <p:sp>
        <p:nvSpPr>
          <p:cNvPr id="11" name="Shape 8"/>
          <p:cNvSpPr/>
          <p:nvPr/>
        </p:nvSpPr>
        <p:spPr>
          <a:xfrm>
            <a:off x="2752130" y="5291495"/>
            <a:ext cx="2969895" cy="398026"/>
          </a:xfrm>
          <a:prstGeom prst="roundRect">
            <a:avLst>
              <a:gd name="adj" fmla="val 25412"/>
            </a:avLst>
          </a:prstGeom>
          <a:solidFill>
            <a:srgbClr val="CEE6FD"/>
          </a:solidFill>
          <a:ln/>
        </p:spPr>
      </p:sp>
      <p:sp>
        <p:nvSpPr>
          <p:cNvPr id="12" name="Text 9"/>
          <p:cNvSpPr/>
          <p:nvPr/>
        </p:nvSpPr>
        <p:spPr>
          <a:xfrm>
            <a:off x="4137541" y="5366147"/>
            <a:ext cx="198953" cy="248722"/>
          </a:xfrm>
          <a:prstGeom prst="rect">
            <a:avLst/>
          </a:prstGeom>
          <a:noFill/>
          <a:ln/>
        </p:spPr>
        <p:txBody>
          <a:bodyPr wrap="none" lIns="0" tIns="0" rIns="0" bIns="0" rtlCol="0" anchor="t"/>
          <a:lstStyle/>
          <a:p>
            <a:pPr algn="l" indent="0" marL="0">
              <a:lnSpc>
                <a:spcPts val="15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1</a:t>
            </a:r>
            <a:endParaRPr lang="en-US" sz="1550" dirty="0"/>
          </a:p>
        </p:txBody>
      </p:sp>
      <p:sp>
        <p:nvSpPr>
          <p:cNvPr id="13" name="Text 10"/>
          <p:cNvSpPr/>
          <p:nvPr/>
        </p:nvSpPr>
        <p:spPr>
          <a:xfrm>
            <a:off x="2884765" y="5767149"/>
            <a:ext cx="1658779" cy="207288"/>
          </a:xfrm>
          <a:prstGeom prst="rect">
            <a:avLst/>
          </a:prstGeom>
          <a:noFill/>
          <a:ln/>
        </p:spPr>
        <p:txBody>
          <a:bodyPr wrap="none" lIns="0" tIns="0" rIns="0" bIns="0" rtlCol="0" anchor="t"/>
          <a:lstStyle/>
          <a:p>
            <a:pPr algn="l" indent="0" marL="0">
              <a:lnSpc>
                <a:spcPts val="160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Frontend Layer</a:t>
            </a:r>
            <a:endParaRPr lang="en-US" sz="1300" dirty="0"/>
          </a:p>
        </p:txBody>
      </p:sp>
      <p:sp>
        <p:nvSpPr>
          <p:cNvPr id="14" name="Text 11"/>
          <p:cNvSpPr/>
          <p:nvPr/>
        </p:nvSpPr>
        <p:spPr>
          <a:xfrm>
            <a:off x="2884765" y="6020991"/>
            <a:ext cx="2704624" cy="336471"/>
          </a:xfrm>
          <a:prstGeom prst="rect">
            <a:avLst/>
          </a:prstGeom>
          <a:noFill/>
          <a:ln/>
        </p:spPr>
        <p:txBody>
          <a:bodyPr wrap="squar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Simple web UI for uploads &amp; results, providing an intuitive user experience.</a:t>
            </a:r>
            <a:endParaRPr lang="en-US" sz="1000" dirty="0"/>
          </a:p>
        </p:txBody>
      </p:sp>
      <p:sp>
        <p:nvSpPr>
          <p:cNvPr id="15" name="Shape 12"/>
          <p:cNvSpPr/>
          <p:nvPr/>
        </p:nvSpPr>
        <p:spPr>
          <a:xfrm>
            <a:off x="5814893" y="5276255"/>
            <a:ext cx="3000494" cy="2022277"/>
          </a:xfrm>
          <a:prstGeom prst="roundRect">
            <a:avLst>
              <a:gd name="adj" fmla="val 5906"/>
            </a:avLst>
          </a:prstGeom>
          <a:solidFill>
            <a:srgbClr val="FFFFFF"/>
          </a:solidFill>
          <a:ln w="15240">
            <a:solidFill>
              <a:srgbClr val="B4CCE3"/>
            </a:solidFill>
            <a:prstDash val="solid"/>
          </a:ln>
        </p:spPr>
      </p:sp>
      <p:sp>
        <p:nvSpPr>
          <p:cNvPr id="16" name="Shape 13"/>
          <p:cNvSpPr/>
          <p:nvPr/>
        </p:nvSpPr>
        <p:spPr>
          <a:xfrm>
            <a:off x="5830133" y="5291495"/>
            <a:ext cx="2970014" cy="398026"/>
          </a:xfrm>
          <a:prstGeom prst="roundRect">
            <a:avLst>
              <a:gd name="adj" fmla="val 25412"/>
            </a:avLst>
          </a:prstGeom>
          <a:solidFill>
            <a:srgbClr val="CEE6FD"/>
          </a:solidFill>
          <a:ln/>
        </p:spPr>
      </p:sp>
      <p:sp>
        <p:nvSpPr>
          <p:cNvPr id="17" name="Text 14"/>
          <p:cNvSpPr/>
          <p:nvPr/>
        </p:nvSpPr>
        <p:spPr>
          <a:xfrm>
            <a:off x="7215664" y="5366147"/>
            <a:ext cx="198953" cy="248722"/>
          </a:xfrm>
          <a:prstGeom prst="rect">
            <a:avLst/>
          </a:prstGeom>
          <a:noFill/>
          <a:ln/>
        </p:spPr>
        <p:txBody>
          <a:bodyPr wrap="none" lIns="0" tIns="0" rIns="0" bIns="0" rtlCol="0" anchor="t"/>
          <a:lstStyle/>
          <a:p>
            <a:pPr algn="l" indent="0" marL="0">
              <a:lnSpc>
                <a:spcPts val="15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2</a:t>
            </a:r>
            <a:endParaRPr lang="en-US" sz="1550" dirty="0"/>
          </a:p>
        </p:txBody>
      </p:sp>
      <p:sp>
        <p:nvSpPr>
          <p:cNvPr id="18" name="Text 15"/>
          <p:cNvSpPr/>
          <p:nvPr/>
        </p:nvSpPr>
        <p:spPr>
          <a:xfrm>
            <a:off x="5962769" y="5767149"/>
            <a:ext cx="1658779" cy="207288"/>
          </a:xfrm>
          <a:prstGeom prst="rect">
            <a:avLst/>
          </a:prstGeom>
          <a:noFill/>
          <a:ln/>
        </p:spPr>
        <p:txBody>
          <a:bodyPr wrap="none" lIns="0" tIns="0" rIns="0" bIns="0" rtlCol="0" anchor="t"/>
          <a:lstStyle/>
          <a:p>
            <a:pPr algn="l" indent="0" marL="0">
              <a:lnSpc>
                <a:spcPts val="160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Backend Layer</a:t>
            </a:r>
            <a:endParaRPr lang="en-US" sz="1300" dirty="0"/>
          </a:p>
        </p:txBody>
      </p:sp>
      <p:sp>
        <p:nvSpPr>
          <p:cNvPr id="19" name="Text 16"/>
          <p:cNvSpPr/>
          <p:nvPr/>
        </p:nvSpPr>
        <p:spPr>
          <a:xfrm>
            <a:off x="5962769" y="6020991"/>
            <a:ext cx="2704743" cy="168235"/>
          </a:xfrm>
          <a:prstGeom prst="rect">
            <a:avLst/>
          </a:prstGeom>
          <a:noFill/>
          <a:ln/>
        </p:spPr>
        <p:txBody>
          <a:bodyPr wrap="non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Powers the core logic:</a:t>
            </a:r>
            <a:endParaRPr lang="en-US" sz="1000" dirty="0"/>
          </a:p>
        </p:txBody>
      </p:sp>
      <p:sp>
        <p:nvSpPr>
          <p:cNvPr id="20" name="Text 17"/>
          <p:cNvSpPr/>
          <p:nvPr/>
        </p:nvSpPr>
        <p:spPr>
          <a:xfrm>
            <a:off x="5962769" y="6235779"/>
            <a:ext cx="2704743" cy="673102"/>
          </a:xfrm>
          <a:prstGeom prst="rect">
            <a:avLst/>
          </a:prstGeom>
          <a:noFill/>
          <a:ln/>
        </p:spPr>
        <p:txBody>
          <a:bodyPr wrap="square" lIns="0" tIns="0" rIns="0" bIns="0" rtlCol="0" anchor="t"/>
          <a:lstStyle/>
          <a:p>
            <a:pPr algn="l" marL="342900" indent="-342900">
              <a:lnSpc>
                <a:spcPts val="1300"/>
              </a:lnSpc>
              <a:buSzPct val="100000"/>
              <a:buChar char="•"/>
            </a:pPr>
            <a:r>
              <a:rPr lang="en-US" sz="1000" dirty="0">
                <a:solidFill>
                  <a:srgbClr val="1E3063"/>
                </a:solidFill>
                <a:latin typeface="Instrument Sans Medium" pitchFamily="34" charset="0"/>
                <a:ea typeface="Instrument Sans Medium" pitchFamily="34" charset="-122"/>
                <a:cs typeface="Instrument Sans Medium" pitchFamily="34" charset="-120"/>
              </a:rPr>
              <a:t>Agent workflow (n8n) for orchestrating tasks</a:t>
            </a:r>
            <a:endParaRPr lang="en-US" sz="1000" dirty="0"/>
          </a:p>
          <a:p>
            <a:pPr algn="l" marL="342900" indent="-342900">
              <a:lnSpc>
                <a:spcPts val="1300"/>
              </a:lnSpc>
              <a:buSzPct val="100000"/>
              <a:buChar char="•"/>
            </a:pPr>
            <a:r>
              <a:rPr lang="en-US" sz="1000" dirty="0">
                <a:solidFill>
                  <a:srgbClr val="1E3063"/>
                </a:solidFill>
                <a:latin typeface="Instrument Sans Medium" pitchFamily="34" charset="0"/>
                <a:ea typeface="Instrument Sans Medium" pitchFamily="34" charset="-122"/>
                <a:cs typeface="Instrument Sans Medium" pitchFamily="34" charset="-120"/>
              </a:rPr>
              <a:t>LLM: Resume + JD reasoning engine for intelligent analysis</a:t>
            </a:r>
            <a:endParaRPr lang="en-US" sz="1000" dirty="0"/>
          </a:p>
        </p:txBody>
      </p:sp>
      <p:sp>
        <p:nvSpPr>
          <p:cNvPr id="21" name="Text 18"/>
          <p:cNvSpPr/>
          <p:nvPr/>
        </p:nvSpPr>
        <p:spPr>
          <a:xfrm>
            <a:off x="5962769" y="6928369"/>
            <a:ext cx="2704743" cy="168235"/>
          </a:xfrm>
          <a:prstGeom prst="rect">
            <a:avLst/>
          </a:prstGeom>
          <a:noFill/>
          <a:ln/>
        </p:spPr>
        <p:txBody>
          <a:bodyPr wrap="none" lIns="0" tIns="0" rIns="0" bIns="0" rtlCol="0" anchor="t"/>
          <a:lstStyle/>
          <a:p>
            <a:pPr algn="l" indent="0" marL="0">
              <a:lnSpc>
                <a:spcPts val="1300"/>
              </a:lnSpc>
              <a:buNone/>
            </a:pPr>
            <a:endParaRPr lang="en-US" sz="1000" dirty="0"/>
          </a:p>
        </p:txBody>
      </p:sp>
      <p:sp>
        <p:nvSpPr>
          <p:cNvPr id="22" name="Shape 19"/>
          <p:cNvSpPr/>
          <p:nvPr/>
        </p:nvSpPr>
        <p:spPr>
          <a:xfrm>
            <a:off x="8893016" y="5276255"/>
            <a:ext cx="3000494" cy="2022277"/>
          </a:xfrm>
          <a:prstGeom prst="roundRect">
            <a:avLst>
              <a:gd name="adj" fmla="val 5906"/>
            </a:avLst>
          </a:prstGeom>
          <a:solidFill>
            <a:srgbClr val="FFFFFF"/>
          </a:solidFill>
          <a:ln w="15240">
            <a:solidFill>
              <a:srgbClr val="B4CCE3"/>
            </a:solidFill>
            <a:prstDash val="solid"/>
          </a:ln>
        </p:spPr>
      </p:sp>
      <p:sp>
        <p:nvSpPr>
          <p:cNvPr id="23" name="Shape 20"/>
          <p:cNvSpPr/>
          <p:nvPr/>
        </p:nvSpPr>
        <p:spPr>
          <a:xfrm>
            <a:off x="8908256" y="5291495"/>
            <a:ext cx="2970014" cy="398026"/>
          </a:xfrm>
          <a:prstGeom prst="roundRect">
            <a:avLst>
              <a:gd name="adj" fmla="val 25412"/>
            </a:avLst>
          </a:prstGeom>
          <a:solidFill>
            <a:srgbClr val="CEE6FD"/>
          </a:solidFill>
          <a:ln/>
        </p:spPr>
      </p:sp>
      <p:sp>
        <p:nvSpPr>
          <p:cNvPr id="24" name="Text 21"/>
          <p:cNvSpPr/>
          <p:nvPr/>
        </p:nvSpPr>
        <p:spPr>
          <a:xfrm>
            <a:off x="10293787" y="5366147"/>
            <a:ext cx="198953" cy="248722"/>
          </a:xfrm>
          <a:prstGeom prst="rect">
            <a:avLst/>
          </a:prstGeom>
          <a:noFill/>
          <a:ln/>
        </p:spPr>
        <p:txBody>
          <a:bodyPr wrap="none" lIns="0" tIns="0" rIns="0" bIns="0" rtlCol="0" anchor="t"/>
          <a:lstStyle/>
          <a:p>
            <a:pPr algn="l" indent="0" marL="0">
              <a:lnSpc>
                <a:spcPts val="15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3</a:t>
            </a:r>
            <a:endParaRPr lang="en-US" sz="1550" dirty="0"/>
          </a:p>
        </p:txBody>
      </p:sp>
      <p:sp>
        <p:nvSpPr>
          <p:cNvPr id="25" name="Text 22"/>
          <p:cNvSpPr/>
          <p:nvPr/>
        </p:nvSpPr>
        <p:spPr>
          <a:xfrm>
            <a:off x="9040892" y="5767149"/>
            <a:ext cx="1658779" cy="207288"/>
          </a:xfrm>
          <a:prstGeom prst="rect">
            <a:avLst/>
          </a:prstGeom>
          <a:noFill/>
          <a:ln/>
        </p:spPr>
        <p:txBody>
          <a:bodyPr wrap="none" lIns="0" tIns="0" rIns="0" bIns="0" rtlCol="0" anchor="t"/>
          <a:lstStyle/>
          <a:p>
            <a:pPr algn="l" indent="0" marL="0">
              <a:lnSpc>
                <a:spcPts val="160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Extention Apps</a:t>
            </a:r>
            <a:endParaRPr lang="en-US" sz="1300" dirty="0"/>
          </a:p>
        </p:txBody>
      </p:sp>
      <p:sp>
        <p:nvSpPr>
          <p:cNvPr id="26" name="Text 23"/>
          <p:cNvSpPr/>
          <p:nvPr/>
        </p:nvSpPr>
        <p:spPr>
          <a:xfrm>
            <a:off x="9040892" y="6020991"/>
            <a:ext cx="2704743" cy="336471"/>
          </a:xfrm>
          <a:prstGeom prst="rect">
            <a:avLst/>
          </a:prstGeom>
          <a:noFill/>
          <a:ln/>
        </p:spPr>
        <p:txBody>
          <a:bodyPr wrap="squar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Extends functionality with external services:</a:t>
            </a:r>
            <a:endParaRPr lang="en-US" sz="1000" dirty="0"/>
          </a:p>
        </p:txBody>
      </p:sp>
      <p:sp>
        <p:nvSpPr>
          <p:cNvPr id="27" name="Text 24"/>
          <p:cNvSpPr/>
          <p:nvPr/>
        </p:nvSpPr>
        <p:spPr>
          <a:xfrm>
            <a:off x="9040892" y="6404015"/>
            <a:ext cx="2704743" cy="336551"/>
          </a:xfrm>
          <a:prstGeom prst="rect">
            <a:avLst/>
          </a:prstGeom>
          <a:noFill/>
          <a:ln/>
        </p:spPr>
        <p:txBody>
          <a:bodyPr wrap="square" lIns="0" tIns="0" rIns="0" bIns="0" rtlCol="0" anchor="t"/>
          <a:lstStyle/>
          <a:p>
            <a:pPr algn="l" marL="342900" indent="-342900">
              <a:lnSpc>
                <a:spcPts val="1300"/>
              </a:lnSpc>
              <a:buSzPct val="100000"/>
              <a:buChar char="•"/>
            </a:pPr>
            <a:r>
              <a:rPr lang="en-US" sz="1000" dirty="0">
                <a:solidFill>
                  <a:srgbClr val="1E3063"/>
                </a:solidFill>
                <a:latin typeface="Instrument Sans Medium" pitchFamily="34" charset="0"/>
                <a:ea typeface="Instrument Sans Medium" pitchFamily="34" charset="-122"/>
                <a:cs typeface="Instrument Sans Medium" pitchFamily="34" charset="-120"/>
              </a:rPr>
              <a:t>Email drafting</a:t>
            </a:r>
            <a:endParaRPr lang="en-US" sz="1000" dirty="0"/>
          </a:p>
          <a:p>
            <a:pPr algn="l" marL="342900" indent="-342900">
              <a:lnSpc>
                <a:spcPts val="1300"/>
              </a:lnSpc>
              <a:buSzPct val="100000"/>
              <a:buChar char="•"/>
            </a:pPr>
            <a:r>
              <a:rPr lang="en-US" sz="1000" dirty="0">
                <a:solidFill>
                  <a:srgbClr val="1E3063"/>
                </a:solidFill>
                <a:latin typeface="Instrument Sans Medium" pitchFamily="34" charset="0"/>
                <a:ea typeface="Instrument Sans Medium" pitchFamily="34" charset="-122"/>
                <a:cs typeface="Instrument Sans Medium" pitchFamily="34" charset="-120"/>
              </a:rPr>
              <a:t>Calendar scheduling (simulated or real)</a:t>
            </a:r>
            <a:endParaRPr lang="en-US" sz="1000" dirty="0"/>
          </a:p>
        </p:txBody>
      </p:sp>
      <p:sp>
        <p:nvSpPr>
          <p:cNvPr id="28" name="Text 25"/>
          <p:cNvSpPr/>
          <p:nvPr/>
        </p:nvSpPr>
        <p:spPr>
          <a:xfrm>
            <a:off x="9040892" y="6787119"/>
            <a:ext cx="2704743" cy="168235"/>
          </a:xfrm>
          <a:prstGeom prst="rect">
            <a:avLst/>
          </a:prstGeom>
          <a:noFill/>
          <a:ln/>
        </p:spPr>
        <p:txBody>
          <a:bodyPr wrap="none" lIns="0" tIns="0" rIns="0" bIns="0" rtlCol="0" anchor="t"/>
          <a:lstStyle/>
          <a:p>
            <a:pPr algn="l" indent="0" marL="0">
              <a:lnSpc>
                <a:spcPts val="1300"/>
              </a:lnSpc>
              <a:buNone/>
            </a:pPr>
            <a:endParaRPr lang="en-US" sz="1000" dirty="0"/>
          </a:p>
        </p:txBody>
      </p:sp>
      <p:sp>
        <p:nvSpPr>
          <p:cNvPr id="29" name="Shape 26"/>
          <p:cNvSpPr/>
          <p:nvPr/>
        </p:nvSpPr>
        <p:spPr>
          <a:xfrm>
            <a:off x="2736890" y="7331753"/>
            <a:ext cx="9156621" cy="415052"/>
          </a:xfrm>
          <a:prstGeom prst="roundRect">
            <a:avLst>
              <a:gd name="adj" fmla="val 28776"/>
            </a:avLst>
          </a:prstGeom>
          <a:solidFill>
            <a:srgbClr val="B5DAFC"/>
          </a:solidFill>
          <a:ln/>
        </p:spPr>
      </p:sp>
      <p:pic>
        <p:nvPicPr>
          <p:cNvPr id="30" name="Image 1" descr="preencoded.png">    </p:cNvPr>
          <p:cNvPicPr>
            <a:picLocks noChangeAspect="1"/>
          </p:cNvPicPr>
          <p:nvPr/>
        </p:nvPicPr>
        <p:blipFill>
          <a:blip r:embed="rId2"/>
          <a:stretch>
            <a:fillRect/>
          </a:stretch>
        </p:blipFill>
        <p:spPr>
          <a:xfrm>
            <a:off x="2869525" y="7510942"/>
            <a:ext cx="165854" cy="132636"/>
          </a:xfrm>
          <a:prstGeom prst="rect">
            <a:avLst/>
          </a:prstGeom>
        </p:spPr>
      </p:pic>
      <p:sp>
        <p:nvSpPr>
          <p:cNvPr id="31" name="Text 27"/>
          <p:cNvSpPr/>
          <p:nvPr/>
        </p:nvSpPr>
        <p:spPr>
          <a:xfrm>
            <a:off x="3168015" y="7442481"/>
            <a:ext cx="8592860" cy="168235"/>
          </a:xfrm>
          <a:prstGeom prst="rect">
            <a:avLst/>
          </a:prstGeom>
          <a:noFill/>
          <a:ln/>
        </p:spPr>
        <p:txBody>
          <a:bodyPr wrap="none" lIns="0" tIns="0" rIns="0" bIns="0" rtlCol="0" anchor="t"/>
          <a:lstStyle/>
          <a:p>
            <a:pPr algn="l" indent="0" marL="0">
              <a:lnSpc>
                <a:spcPts val="1300"/>
              </a:lnSpc>
              <a:buNone/>
            </a:pPr>
            <a:r>
              <a:rPr lang="en-US" sz="1000" dirty="0">
                <a:solidFill>
                  <a:srgbClr val="000000"/>
                </a:solidFill>
                <a:latin typeface="Instrument Sans Medium" pitchFamily="34" charset="0"/>
                <a:ea typeface="Instrument Sans Medium" pitchFamily="34" charset="-122"/>
                <a:cs typeface="Instrument Sans Medium" pitchFamily="34" charset="-120"/>
              </a:rPr>
              <a:t>Modular, explainable, and easy to extend.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3538" y="537091"/>
            <a:ext cx="6143506" cy="610314"/>
          </a:xfrm>
          <a:prstGeom prst="rect">
            <a:avLst/>
          </a:prstGeom>
          <a:noFill/>
          <a:ln/>
        </p:spPr>
        <p:txBody>
          <a:bodyPr wrap="none" lIns="0" tIns="0" rIns="0" bIns="0" rtlCol="0" anchor="t"/>
          <a:lstStyle/>
          <a:p>
            <a:pPr algn="l" indent="0" marL="0">
              <a:lnSpc>
                <a:spcPts val="4800"/>
              </a:lnSpc>
              <a:buNone/>
            </a:pPr>
            <a:r>
              <a:rPr lang="en-US" sz="3800" dirty="0">
                <a:solidFill>
                  <a:srgbClr val="091C53"/>
                </a:solidFill>
                <a:latin typeface="Instrument Sans Semi Bold" pitchFamily="34" charset="0"/>
                <a:ea typeface="Instrument Sans Semi Bold" pitchFamily="34" charset="-122"/>
                <a:cs typeface="Instrument Sans Semi Bold" pitchFamily="34" charset="-120"/>
              </a:rPr>
              <a:t>Roadmap, Metrics &amp; Vision</a:t>
            </a:r>
            <a:endParaRPr lang="en-US" sz="3800" dirty="0"/>
          </a:p>
        </p:txBody>
      </p:sp>
      <p:pic>
        <p:nvPicPr>
          <p:cNvPr id="3" name="Image 0" descr="preencoded.png">    </p:cNvPr>
          <p:cNvPicPr>
            <a:picLocks noChangeAspect="1"/>
          </p:cNvPicPr>
          <p:nvPr/>
        </p:nvPicPr>
        <p:blipFill>
          <a:blip r:embed="rId1"/>
          <a:stretch>
            <a:fillRect/>
          </a:stretch>
        </p:blipFill>
        <p:spPr>
          <a:xfrm>
            <a:off x="683538" y="1588770"/>
            <a:ext cx="4057650" cy="4057650"/>
          </a:xfrm>
          <a:prstGeom prst="rect">
            <a:avLst/>
          </a:prstGeom>
        </p:spPr>
      </p:pic>
      <p:sp>
        <p:nvSpPr>
          <p:cNvPr id="4" name="Text 1"/>
          <p:cNvSpPr/>
          <p:nvPr/>
        </p:nvSpPr>
        <p:spPr>
          <a:xfrm>
            <a:off x="683538" y="5835610"/>
            <a:ext cx="2441377" cy="305157"/>
          </a:xfrm>
          <a:prstGeom prst="rect">
            <a:avLst/>
          </a:prstGeom>
          <a:noFill/>
          <a:ln/>
        </p:spPr>
        <p:txBody>
          <a:bodyPr wrap="none" lIns="0" tIns="0" rIns="0" bIns="0" rtlCol="0" anchor="t"/>
          <a:lstStyle/>
          <a:p>
            <a:pPr algn="l" indent="0" marL="0">
              <a:lnSpc>
                <a:spcPts val="240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6-Month Roadmap</a:t>
            </a:r>
            <a:endParaRPr lang="en-US" sz="1900" dirty="0"/>
          </a:p>
        </p:txBody>
      </p:sp>
      <p:sp>
        <p:nvSpPr>
          <p:cNvPr id="5" name="Text 2"/>
          <p:cNvSpPr/>
          <p:nvPr/>
        </p:nvSpPr>
        <p:spPr>
          <a:xfrm>
            <a:off x="683538" y="6308884"/>
            <a:ext cx="4057650" cy="1163144"/>
          </a:xfrm>
          <a:prstGeom prst="rect">
            <a:avLst/>
          </a:prstGeom>
          <a:noFill/>
          <a:ln/>
        </p:spPr>
        <p:txBody>
          <a:bodyPr wrap="square" lIns="0" tIns="0" rIns="0" bIns="0" rtlCol="0" anchor="t"/>
          <a:lstStyle/>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Batch resume uploads</a:t>
            </a:r>
            <a:endParaRPr lang="en-US" sz="1500" dirty="0"/>
          </a:p>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Calendar integration</a:t>
            </a:r>
            <a:endParaRPr lang="en-US" sz="1500" dirty="0"/>
          </a:p>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Recruiter feedback loop</a:t>
            </a:r>
            <a:endParaRPr lang="en-US" sz="1500" dirty="0"/>
          </a:p>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ATS export</a:t>
            </a:r>
            <a:endParaRPr lang="en-US" sz="1500" dirty="0"/>
          </a:p>
        </p:txBody>
      </p:sp>
      <p:pic>
        <p:nvPicPr>
          <p:cNvPr id="6" name="Image 1" descr="preencoded.png">    </p:cNvPr>
          <p:cNvPicPr>
            <a:picLocks noChangeAspect="1"/>
          </p:cNvPicPr>
          <p:nvPr/>
        </p:nvPicPr>
        <p:blipFill>
          <a:blip r:embed="rId2"/>
          <a:stretch>
            <a:fillRect/>
          </a:stretch>
        </p:blipFill>
        <p:spPr>
          <a:xfrm>
            <a:off x="5225296" y="1588770"/>
            <a:ext cx="4057650" cy="4057650"/>
          </a:xfrm>
          <a:prstGeom prst="rect">
            <a:avLst/>
          </a:prstGeom>
        </p:spPr>
      </p:pic>
      <p:sp>
        <p:nvSpPr>
          <p:cNvPr id="7" name="Text 3"/>
          <p:cNvSpPr/>
          <p:nvPr/>
        </p:nvSpPr>
        <p:spPr>
          <a:xfrm>
            <a:off x="5225296" y="5835610"/>
            <a:ext cx="2441377" cy="305157"/>
          </a:xfrm>
          <a:prstGeom prst="rect">
            <a:avLst/>
          </a:prstGeom>
          <a:noFill/>
          <a:ln/>
        </p:spPr>
        <p:txBody>
          <a:bodyPr wrap="none" lIns="0" tIns="0" rIns="0" bIns="0" rtlCol="0" anchor="t"/>
          <a:lstStyle/>
          <a:p>
            <a:pPr algn="l" indent="0" marL="0">
              <a:lnSpc>
                <a:spcPts val="240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Success Metrics</a:t>
            </a:r>
            <a:endParaRPr lang="en-US" sz="1900" dirty="0"/>
          </a:p>
        </p:txBody>
      </p:sp>
      <p:sp>
        <p:nvSpPr>
          <p:cNvPr id="8" name="Text 4"/>
          <p:cNvSpPr/>
          <p:nvPr/>
        </p:nvSpPr>
        <p:spPr>
          <a:xfrm>
            <a:off x="5225296" y="6308884"/>
            <a:ext cx="4057650" cy="872358"/>
          </a:xfrm>
          <a:prstGeom prst="rect">
            <a:avLst/>
          </a:prstGeom>
          <a:noFill/>
          <a:ln/>
        </p:spPr>
        <p:txBody>
          <a:bodyPr wrap="square" lIns="0" tIns="0" rIns="0" bIns="0" rtlCol="0" anchor="t"/>
          <a:lstStyle/>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Time-to-screen reduced by 40–60%</a:t>
            </a:r>
            <a:endParaRPr lang="en-US" sz="1500" dirty="0"/>
          </a:p>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Faster interview scheduling</a:t>
            </a:r>
            <a:endParaRPr lang="en-US" sz="1500" dirty="0"/>
          </a:p>
          <a:p>
            <a:pPr algn="l" marL="342900" indent="-342900">
              <a:lnSpc>
                <a:spcPts val="2250"/>
              </a:lnSpc>
              <a:buSzPct val="100000"/>
              <a:buChar char="•"/>
            </a:pPr>
            <a:r>
              <a:rPr lang="en-US" sz="1500" dirty="0">
                <a:solidFill>
                  <a:srgbClr val="1E3063"/>
                </a:solidFill>
                <a:latin typeface="Instrument Sans Medium" pitchFamily="34" charset="0"/>
                <a:ea typeface="Instrument Sans Medium" pitchFamily="34" charset="-122"/>
                <a:cs typeface="Instrument Sans Medium" pitchFamily="34" charset="-120"/>
              </a:rPr>
              <a:t>Higher recruiter confidence</a:t>
            </a:r>
            <a:endParaRPr lang="en-US" sz="1500" dirty="0"/>
          </a:p>
        </p:txBody>
      </p:sp>
      <p:pic>
        <p:nvPicPr>
          <p:cNvPr id="9" name="Image 2" descr="preencoded.png">    </p:cNvPr>
          <p:cNvPicPr>
            <a:picLocks noChangeAspect="1"/>
          </p:cNvPicPr>
          <p:nvPr/>
        </p:nvPicPr>
        <p:blipFill>
          <a:blip r:embed="rId3"/>
          <a:stretch>
            <a:fillRect/>
          </a:stretch>
        </p:blipFill>
        <p:spPr>
          <a:xfrm>
            <a:off x="9767054" y="1588770"/>
            <a:ext cx="4195048" cy="4195048"/>
          </a:xfrm>
          <a:prstGeom prst="rect">
            <a:avLst/>
          </a:prstGeom>
        </p:spPr>
      </p:pic>
      <p:sp>
        <p:nvSpPr>
          <p:cNvPr id="10" name="Text 5"/>
          <p:cNvSpPr/>
          <p:nvPr/>
        </p:nvSpPr>
        <p:spPr>
          <a:xfrm>
            <a:off x="9767054" y="5973008"/>
            <a:ext cx="2441377" cy="305157"/>
          </a:xfrm>
          <a:prstGeom prst="rect">
            <a:avLst/>
          </a:prstGeom>
          <a:noFill/>
          <a:ln/>
        </p:spPr>
        <p:txBody>
          <a:bodyPr wrap="none" lIns="0" tIns="0" rIns="0" bIns="0" rtlCol="0" anchor="t"/>
          <a:lstStyle/>
          <a:p>
            <a:pPr algn="l" indent="0" marL="0">
              <a:lnSpc>
                <a:spcPts val="240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Long-Term Vision</a:t>
            </a:r>
            <a:endParaRPr lang="en-US" sz="1900" dirty="0"/>
          </a:p>
        </p:txBody>
      </p:sp>
      <p:sp>
        <p:nvSpPr>
          <p:cNvPr id="11" name="Text 6"/>
          <p:cNvSpPr/>
          <p:nvPr/>
        </p:nvSpPr>
        <p:spPr>
          <a:xfrm>
            <a:off x="9767054" y="6446282"/>
            <a:ext cx="4195048" cy="871895"/>
          </a:xfrm>
          <a:prstGeom prst="rect">
            <a:avLst/>
          </a:prstGeom>
          <a:noFill/>
          <a:ln/>
        </p:spPr>
        <p:txBody>
          <a:bodyPr wrap="square" lIns="0" tIns="0" rIns="0" bIns="0" rtlCol="0" anchor="t"/>
          <a:lstStyle/>
          <a:p>
            <a:pPr algn="l" indent="0" marL="0">
              <a:lnSpc>
                <a:spcPts val="225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Become the hiring intelligence layer for SMBs - starting with screening, expanding into end-to-end hiring support.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algn="l" indent="0" marL="0">
              <a:lnSpc>
                <a:spcPts val="5550"/>
              </a:lnSpc>
              <a:buNone/>
            </a:pP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2026-01-30T11:01:35Z</dcterms:created>
  <dcterms:modified xsi:type="dcterms:W3CDTF">2026-01-30T11:01:35Z</dcterms:modified>
</cp:coreProperties>
</file>